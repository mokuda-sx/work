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提案価値のマトリックス分析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市場機会 × 実装難度で優先順位を判定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2557576" y="1412748"/>
            <a:ext cx="2907791" cy="365760"/>
          </a:xfrm>
          <a:prstGeom prst="rect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高</a:t>
            </a:r>
          </a:p>
        </p:txBody>
      </p:sp>
      <p:sp>
        <p:nvSpPr>
          <p:cNvPr id="6" name="Rectangle 5"/>
          <p:cNvSpPr/>
          <p:nvPr/>
        </p:nvSpPr>
        <p:spPr>
          <a:xfrm>
            <a:off x="5465368" y="1412748"/>
            <a:ext cx="2907791" cy="365760"/>
          </a:xfrm>
          <a:prstGeom prst="rect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中</a:t>
            </a:r>
          </a:p>
        </p:txBody>
      </p:sp>
      <p:sp>
        <p:nvSpPr>
          <p:cNvPr id="7" name="Rectangle 6"/>
          <p:cNvSpPr/>
          <p:nvPr/>
        </p:nvSpPr>
        <p:spPr>
          <a:xfrm>
            <a:off x="8373160" y="1412748"/>
            <a:ext cx="2907791" cy="365760"/>
          </a:xfrm>
          <a:prstGeom prst="rect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低</a:t>
            </a:r>
          </a:p>
        </p:txBody>
      </p:sp>
      <p:sp>
        <p:nvSpPr>
          <p:cNvPr id="8" name="Rectangle 7"/>
          <p:cNvSpPr/>
          <p:nvPr/>
        </p:nvSpPr>
        <p:spPr>
          <a:xfrm>
            <a:off x="911656" y="1869948"/>
            <a:ext cx="1371600" cy="640080"/>
          </a:xfrm>
          <a:prstGeom prst="rect">
            <a:avLst/>
          </a:prstGeom>
          <a:solidFill>
            <a:srgbClr val="8FAADC"/>
          </a:solidFill>
          <a:ln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高機会</a:t>
            </a:r>
          </a:p>
        </p:txBody>
      </p:sp>
      <p:sp>
        <p:nvSpPr>
          <p:cNvPr id="9" name="Rectangle 8"/>
          <p:cNvSpPr/>
          <p:nvPr/>
        </p:nvSpPr>
        <p:spPr>
          <a:xfrm>
            <a:off x="2557576" y="1869948"/>
            <a:ext cx="2907791" cy="6400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優先度1</a:t>
            </a:r>
          </a:p>
          <a:p>
            <a:pPr algn="ctr">
              <a:lnSpc>
                <a:spcPct val="100000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実装Go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65368" y="1869948"/>
            <a:ext cx="2907791" cy="6400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優先度2</a:t>
            </a:r>
          </a:p>
          <a:p>
            <a:pPr algn="ctr">
              <a:lnSpc>
                <a:spcPct val="100000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要検討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73160" y="1869948"/>
            <a:ext cx="2907791" cy="6400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保留</a:t>
            </a:r>
          </a:p>
          <a:p>
            <a:pPr algn="ctr">
              <a:lnSpc>
                <a:spcPct val="100000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将来オプション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1656" y="2510028"/>
            <a:ext cx="1371600" cy="640080"/>
          </a:xfrm>
          <a:prstGeom prst="rect">
            <a:avLst/>
          </a:prstGeom>
          <a:solidFill>
            <a:srgbClr val="8FAADC"/>
          </a:solidFill>
          <a:ln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中機会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57576" y="2510028"/>
            <a:ext cx="2907791" cy="6400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優先度2</a:t>
            </a:r>
          </a:p>
          <a:p>
            <a:pPr algn="ctr">
              <a:lnSpc>
                <a:spcPct val="100000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要検討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65368" y="2510028"/>
            <a:ext cx="2907791" cy="6400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中実装</a:t>
            </a:r>
          </a:p>
          <a:p>
            <a:pPr algn="ctr">
              <a:lnSpc>
                <a:spcPct val="100000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段階的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73160" y="2510028"/>
            <a:ext cx="2907791" cy="6400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スコープ外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1656" y="3150108"/>
            <a:ext cx="1371600" cy="640080"/>
          </a:xfrm>
          <a:prstGeom prst="rect">
            <a:avLst/>
          </a:prstGeom>
          <a:solidFill>
            <a:srgbClr val="8FAADC"/>
          </a:solidFill>
          <a:ln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低機会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57576" y="3150108"/>
            <a:ext cx="2907791" cy="6400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保留</a:t>
            </a:r>
          </a:p>
          <a:p>
            <a:pPr algn="ctr">
              <a:lnSpc>
                <a:spcPct val="100000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将来オプション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65368" y="3150108"/>
            <a:ext cx="2907791" cy="6400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スコープ外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73160" y="3150108"/>
            <a:ext cx="2907791" cy="6400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実施不要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