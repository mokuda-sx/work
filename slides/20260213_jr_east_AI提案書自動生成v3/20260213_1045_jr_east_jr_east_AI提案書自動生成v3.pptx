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66" r:id="rId3"/>
  </p:sldMasterIdLst>
  <p:notesMasterIdLst>
    <p:notesMasterId r:id="rId5"/>
  </p:notesMasterIdLst>
  <p:handoutMasterIdLst>
    <p:handoutMasterId r:id="rId6"/>
  </p:handoutMasterIdLst>
  <p:sldIdLst>
    <p:sldId id="256" r:id="rId4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7104063" cy="10234613"/>
  <p:custDataLst>
    <p:tags r:id="rId7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795C8D5-EFC8-412F-B5E9-4B84661C44F6}">
          <p14:sldIdLst>
            <p14:sldId id="2147483163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00"/>
    <a:srgbClr val="7F7F7F"/>
    <a:srgbClr val="DEDFDF"/>
    <a:srgbClr val="A7DAAC"/>
    <a:srgbClr val="3B8B42"/>
    <a:srgbClr val="D9D9D9"/>
    <a:srgbClr val="FFFFFF"/>
    <a:srgbClr val="C7DBA4"/>
    <a:srgbClr val="D4B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BEDB3A3-9BFC-2A34-FBED-ED2C3B40EC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9F8A078-3F56-ED7C-B07B-2F001C8276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/>
            </a:lvl1pPr>
          </a:lstStyle>
          <a:p>
            <a:fld id="{AC4CBA4B-C403-43E1-94D0-047C7E36D0BD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8AB8AB-750A-F3CE-CFAF-2A07E7314E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6E6C2E-1F18-7800-3E46-2E319A184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/>
            </a:lvl1pPr>
          </a:lstStyle>
          <a:p>
            <a:fld id="{65EA0D31-E50A-491A-A74B-4B2450CA4B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2519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23BB58DF-7B53-45B0-8B36-7EF5195FC933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5" tIns="49533" rIns="99065" bIns="49533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5" tIns="49533" rIns="99065" bIns="49533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9E7FC3B8-8D37-470C-87BA-E1AB128AA9FA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175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53D106C-83F2-2BA1-36B0-C57158A189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2648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D106C-83F2-2BA1-36B0-C57158A189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6" y="2883243"/>
            <a:ext cx="11505423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4163552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2A4A7C09-28F0-A531-CE67-B4E0A1EFD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6" y="4538968"/>
            <a:ext cx="11505423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6" y="5566224"/>
            <a:ext cx="11505423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98589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キービジュア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D484F4D-FDAA-9CE5-1816-06D46E59B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49413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484F4D-FDAA-9CE5-1816-06D46E59B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7" y="365448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7" y="2883243"/>
            <a:ext cx="6883998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7" y="4163552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7" y="5566224"/>
            <a:ext cx="6883998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66" name="図プレースホルダー 65">
            <a:extLst>
              <a:ext uri="{FF2B5EF4-FFF2-40B4-BE49-F238E27FC236}">
                <a16:creationId xmlns:a16="http://schemas.microsoft.com/office/drawing/2014/main" id="{C4DE0948-8AF6-6784-DBF3-658DF5D01A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59513" y="1"/>
            <a:ext cx="4632487" cy="68580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キービジュアル</a:t>
            </a:r>
            <a:endParaRPr kumimoji="1" lang="en-US" altLang="ja-JP"/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B5C5324C-2693-485B-2292-36C8AA18F8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7" y="4538968"/>
            <a:ext cx="6883998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</p:spTree>
    <p:extLst>
      <p:ext uri="{BB962C8B-B14F-4D97-AF65-F5344CB8AC3E}">
        <p14:creationId xmlns:p14="http://schemas.microsoft.com/office/powerpoint/2010/main" val="2170468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4669699-635B-0E45-4067-E9ED074116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174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669699-635B-0E45-4067-E9ED074116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4E72459-2E48-AB6D-9E5A-B407EFD9A528}"/>
              </a:ext>
            </a:extLst>
          </p:cNvPr>
          <p:cNvSpPr/>
          <p:nvPr userDrawn="1"/>
        </p:nvSpPr>
        <p:spPr>
          <a:xfrm>
            <a:off x="2967037" y="2600324"/>
            <a:ext cx="6257926" cy="17811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8D4EB05-C27F-61E0-7A22-C517093E4A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37" y="2714625"/>
            <a:ext cx="6257926" cy="4981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ここにタイトルをいれます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EA78CE-3151-ADBE-E810-A0E2AE748F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7037" y="3217499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2E2654BD-B506-CA16-6609-DE728396E19E}"/>
              </a:ext>
            </a:extLst>
          </p:cNvPr>
          <p:cNvSpPr/>
          <p:nvPr userDrawn="1"/>
        </p:nvSpPr>
        <p:spPr>
          <a:xfrm>
            <a:off x="2981325" y="3562349"/>
            <a:ext cx="6038850" cy="360000"/>
          </a:xfrm>
          <a:prstGeom prst="homePlate">
            <a:avLst>
              <a:gd name="adj" fmla="val 6587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6E3FD17A-1BDE-2766-B07C-700E7EE3A8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1325" y="3618524"/>
            <a:ext cx="2934674" cy="238125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前タイトル</a:t>
            </a:r>
          </a:p>
        </p:txBody>
      </p:sp>
      <p:sp>
        <p:nvSpPr>
          <p:cNvPr id="10" name="テキスト プレースホルダー 4">
            <a:extLst>
              <a:ext uri="{FF2B5EF4-FFF2-40B4-BE49-F238E27FC236}">
                <a16:creationId xmlns:a16="http://schemas.microsoft.com/office/drawing/2014/main" id="{1A671166-FC2E-3F82-5E80-9DA2EA9320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6001" y="3618524"/>
            <a:ext cx="2525099" cy="238125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後タイトル</a:t>
            </a:r>
          </a:p>
        </p:txBody>
      </p:sp>
      <p:sp>
        <p:nvSpPr>
          <p:cNvPr id="11" name="テキスト プレースホルダー 4">
            <a:extLst>
              <a:ext uri="{FF2B5EF4-FFF2-40B4-BE49-F238E27FC236}">
                <a16:creationId xmlns:a16="http://schemas.microsoft.com/office/drawing/2014/main" id="{859D4B37-AAF8-CD53-A8D0-1E0BE0960F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67037" y="4029074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</p:spTree>
    <p:extLst>
      <p:ext uri="{BB962C8B-B14F-4D97-AF65-F5344CB8AC3E}">
        <p14:creationId xmlns:p14="http://schemas.microsoft.com/office/powerpoint/2010/main" val="70397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8309230-A8C6-589B-6727-7CED899EAE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6267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309230-A8C6-589B-6727-7CED899EA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109663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D5F7F3D1-9B92-C190-A2F6-030AB337D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295400"/>
            <a:ext cx="11506200" cy="4852849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22654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3F4BE2-F913-4B35-9163-7221DC6810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7485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3F4BE2-F913-4B35-9163-7221DC6810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E757E01C-F854-173E-823D-DDDDA6DD92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1770700"/>
            <a:ext cx="11506200" cy="437755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893717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486108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575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117" userDrawn="1">
          <p15:clr>
            <a:srgbClr val="FBAE40"/>
          </p15:clr>
        </p15:guide>
        <p15:guide id="5" pos="211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orient="horz" pos="3884" userDrawn="1">
          <p15:clr>
            <a:srgbClr val="FBAE40"/>
          </p15:clr>
        </p15:guide>
        <p15:guide id="9" pos="2026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3659" userDrawn="1">
          <p15:clr>
            <a:srgbClr val="FBAE40"/>
          </p15:clr>
        </p15:guide>
        <p15:guide id="12" pos="402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262D853-C84B-B7AB-B3F8-05459CBB18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58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62D853-C84B-B7AB-B3F8-05459CBB1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827411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B96ADC3B-5670-8FE8-BB68-E7C53D6F9C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000125"/>
            <a:ext cx="11506200" cy="515683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9572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67166BF-B57D-3B48-5858-26D967AC8D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64545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7166BF-B57D-3B48-5858-26D967AC8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91471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F50E27B-4EF3-9831-34C4-0C4F565E1867}"/>
              </a:ext>
            </a:extLst>
          </p:cNvPr>
          <p:cNvCxnSpPr>
            <a:cxnSpLocks/>
          </p:cNvCxnSpPr>
          <p:nvPr userDrawn="1"/>
        </p:nvCxnSpPr>
        <p:spPr>
          <a:xfrm>
            <a:off x="343406" y="1289375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3754840C-68EB-A96F-E155-C49A644F5F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462089"/>
            <a:ext cx="11506200" cy="469486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74806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E8593B-4AA0-66BB-E995-074CECF17D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2523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8593B-4AA0-66BB-E995-074CECF17D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0121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背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4EC2E36-EF9A-45BA-98A8-6BF4502BB1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4011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EC2E36-EF9A-45BA-98A8-6BF4502BB1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5226A66-3B11-E670-DE62-E1E8E361AB2B}"/>
              </a:ext>
            </a:extLst>
          </p:cNvPr>
          <p:cNvGrpSpPr/>
          <p:nvPr userDrawn="1"/>
        </p:nvGrpSpPr>
        <p:grpSpPr>
          <a:xfrm>
            <a:off x="5182874" y="2766301"/>
            <a:ext cx="1826252" cy="1325397"/>
            <a:chOff x="728453" y="1526554"/>
            <a:chExt cx="1778804" cy="1294644"/>
          </a:xfrm>
        </p:grpSpPr>
        <p:grpSp>
          <p:nvGrpSpPr>
            <p:cNvPr id="3" name="グループ化 41">
              <a:extLst>
                <a:ext uri="{FF2B5EF4-FFF2-40B4-BE49-F238E27FC236}">
                  <a16:creationId xmlns:a16="http://schemas.microsoft.com/office/drawing/2014/main" id="{7262CE5C-9C36-2190-48FA-908E1AD04B78}"/>
                </a:ext>
              </a:extLst>
            </p:cNvPr>
            <p:cNvGrpSpPr/>
            <p:nvPr/>
          </p:nvGrpSpPr>
          <p:grpSpPr>
            <a:xfrm>
              <a:off x="948104" y="2559544"/>
              <a:ext cx="1320019" cy="261654"/>
              <a:chOff x="1266972" y="5922947"/>
              <a:chExt cx="2571874" cy="509797"/>
            </a:xfrm>
            <a:solidFill>
              <a:srgbClr val="378640"/>
            </a:solidFill>
          </p:grpSpPr>
          <p:sp>
            <p:nvSpPr>
              <p:cNvPr id="5" name="正方形/長方形 7">
                <a:extLst>
                  <a:ext uri="{FF2B5EF4-FFF2-40B4-BE49-F238E27FC236}">
                    <a16:creationId xmlns:a16="http://schemas.microsoft.com/office/drawing/2014/main" id="{100D7181-C61C-4535-3A3B-0F79F0C36EE5}"/>
                  </a:ext>
                </a:extLst>
              </p:cNvPr>
              <p:cNvSpPr/>
              <p:nvPr/>
            </p:nvSpPr>
            <p:spPr>
              <a:xfrm>
                <a:off x="1747510" y="5946015"/>
                <a:ext cx="441803" cy="481100"/>
              </a:xfrm>
              <a:custGeom>
                <a:avLst/>
                <a:gdLst/>
                <a:ahLst/>
                <a:cxnLst/>
                <a:rect l="l" t="t" r="r" b="b"/>
                <a:pathLst>
                  <a:path w="2991459" h="3257549">
                    <a:moveTo>
                      <a:pt x="1971679" y="561030"/>
                    </a:moveTo>
                    <a:lnTo>
                      <a:pt x="1971679" y="562384"/>
                    </a:lnTo>
                    <a:lnTo>
                      <a:pt x="604838" y="562384"/>
                    </a:lnTo>
                    <a:lnTo>
                      <a:pt x="604838" y="1443990"/>
                    </a:lnTo>
                    <a:lnTo>
                      <a:pt x="2033699" y="1443990"/>
                    </a:lnTo>
                    <a:cubicBezTo>
                      <a:pt x="2116966" y="1441245"/>
                      <a:pt x="2236766" y="1421407"/>
                      <a:pt x="2307432" y="1340644"/>
                    </a:cubicBezTo>
                    <a:cubicBezTo>
                      <a:pt x="2378777" y="1259105"/>
                      <a:pt x="2382044" y="1132681"/>
                      <a:pt x="2383631" y="1016794"/>
                    </a:cubicBezTo>
                    <a:lnTo>
                      <a:pt x="2383631" y="981009"/>
                    </a:lnTo>
                    <a:cubicBezTo>
                      <a:pt x="2378869" y="871282"/>
                      <a:pt x="2383448" y="733250"/>
                      <a:pt x="2300288" y="656782"/>
                    </a:cubicBezTo>
                    <a:cubicBezTo>
                      <a:pt x="2230917" y="592993"/>
                      <a:pt x="2110544" y="561154"/>
                      <a:pt x="1971679" y="561030"/>
                    </a:cubicBezTo>
                    <a:close/>
                    <a:moveTo>
                      <a:pt x="0" y="0"/>
                    </a:moveTo>
                    <a:lnTo>
                      <a:pt x="597084" y="0"/>
                    </a:lnTo>
                    <a:lnTo>
                      <a:pt x="597084" y="951"/>
                    </a:lnTo>
                    <a:lnTo>
                      <a:pt x="604838" y="951"/>
                    </a:lnTo>
                    <a:lnTo>
                      <a:pt x="604838" y="952"/>
                    </a:lnTo>
                    <a:lnTo>
                      <a:pt x="1947881" y="952"/>
                    </a:lnTo>
                    <a:lnTo>
                      <a:pt x="1947936" y="12"/>
                    </a:lnTo>
                    <a:cubicBezTo>
                      <a:pt x="2211854" y="-787"/>
                      <a:pt x="2566914" y="38783"/>
                      <a:pt x="2782778" y="234467"/>
                    </a:cubicBezTo>
                    <a:cubicBezTo>
                      <a:pt x="2992857" y="424908"/>
                      <a:pt x="2988610" y="717853"/>
                      <a:pt x="2990665" y="975370"/>
                    </a:cubicBezTo>
                    <a:lnTo>
                      <a:pt x="2990906" y="975370"/>
                    </a:lnTo>
                    <a:lnTo>
                      <a:pt x="2990906" y="1087934"/>
                    </a:lnTo>
                    <a:lnTo>
                      <a:pt x="2990860" y="1087934"/>
                    </a:lnTo>
                    <a:cubicBezTo>
                      <a:pt x="2989258" y="1286736"/>
                      <a:pt x="3022346" y="1569664"/>
                      <a:pt x="2647825" y="1701869"/>
                    </a:cubicBezTo>
                    <a:cubicBezTo>
                      <a:pt x="3021510" y="1826777"/>
                      <a:pt x="2990850" y="2127009"/>
                      <a:pt x="2990850" y="2381250"/>
                    </a:cubicBezTo>
                    <a:lnTo>
                      <a:pt x="2990850" y="3257549"/>
                    </a:lnTo>
                    <a:lnTo>
                      <a:pt x="2385059" y="3257549"/>
                    </a:lnTo>
                    <a:lnTo>
                      <a:pt x="2385059" y="2376647"/>
                    </a:lnTo>
                    <a:lnTo>
                      <a:pt x="2384425" y="2376647"/>
                    </a:lnTo>
                    <a:cubicBezTo>
                      <a:pt x="2380222" y="2282070"/>
                      <a:pt x="2413582" y="2002804"/>
                      <a:pt x="2083551" y="2005422"/>
                    </a:cubicBezTo>
                    <a:lnTo>
                      <a:pt x="597084" y="2005422"/>
                    </a:lnTo>
                    <a:lnTo>
                      <a:pt x="597084" y="3257549"/>
                    </a:lnTo>
                    <a:lnTo>
                      <a:pt x="0" y="32575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" name="正方形/長方形 8">
                <a:extLst>
                  <a:ext uri="{FF2B5EF4-FFF2-40B4-BE49-F238E27FC236}">
                    <a16:creationId xmlns:a16="http://schemas.microsoft.com/office/drawing/2014/main" id="{E5AAAE84-779C-BB9D-4CB5-1EE6853A6527}"/>
                  </a:ext>
                </a:extLst>
              </p:cNvPr>
              <p:cNvSpPr/>
              <p:nvPr/>
            </p:nvSpPr>
            <p:spPr>
              <a:xfrm>
                <a:off x="1266972" y="5946016"/>
                <a:ext cx="415669" cy="481007"/>
              </a:xfrm>
              <a:custGeom>
                <a:avLst/>
                <a:gdLst/>
                <a:ahLst/>
                <a:cxnLst/>
                <a:rect l="l" t="t" r="r" b="b"/>
                <a:pathLst>
                  <a:path w="2814505" h="3256916">
                    <a:moveTo>
                      <a:pt x="0" y="1710689"/>
                    </a:moveTo>
                    <a:lnTo>
                      <a:pt x="622459" y="1710689"/>
                    </a:lnTo>
                    <a:lnTo>
                      <a:pt x="622459" y="2244088"/>
                    </a:lnTo>
                    <a:lnTo>
                      <a:pt x="0" y="2244088"/>
                    </a:lnTo>
                    <a:close/>
                    <a:moveTo>
                      <a:pt x="2194561" y="0"/>
                    </a:moveTo>
                    <a:lnTo>
                      <a:pt x="2814505" y="0"/>
                    </a:lnTo>
                    <a:lnTo>
                      <a:pt x="2814505" y="2245518"/>
                    </a:lnTo>
                    <a:lnTo>
                      <a:pt x="2814505" y="2269330"/>
                    </a:lnTo>
                    <a:lnTo>
                      <a:pt x="2813719" y="2269330"/>
                    </a:lnTo>
                    <a:cubicBezTo>
                      <a:pt x="2808752" y="2546811"/>
                      <a:pt x="2756751" y="2796150"/>
                      <a:pt x="2523040" y="3013418"/>
                    </a:cubicBezTo>
                    <a:cubicBezTo>
                      <a:pt x="2273495" y="3245408"/>
                      <a:pt x="1767072" y="3254182"/>
                      <a:pt x="1443321" y="3256759"/>
                    </a:cubicBezTo>
                    <a:lnTo>
                      <a:pt x="1443321" y="3256916"/>
                    </a:lnTo>
                    <a:lnTo>
                      <a:pt x="1430205" y="3256916"/>
                    </a:lnTo>
                    <a:lnTo>
                      <a:pt x="1389221" y="3256916"/>
                    </a:lnTo>
                    <a:lnTo>
                      <a:pt x="1373669" y="3256916"/>
                    </a:lnTo>
                    <a:lnTo>
                      <a:pt x="1373669" y="3256731"/>
                    </a:lnTo>
                    <a:cubicBezTo>
                      <a:pt x="1048670" y="3254134"/>
                      <a:pt x="542321" y="3244823"/>
                      <a:pt x="292501" y="3013074"/>
                    </a:cubicBezTo>
                    <a:cubicBezTo>
                      <a:pt x="51267" y="2789291"/>
                      <a:pt x="2943" y="2531533"/>
                      <a:pt x="0" y="2244090"/>
                    </a:cubicBezTo>
                    <a:lnTo>
                      <a:pt x="622148" y="2244090"/>
                    </a:lnTo>
                    <a:cubicBezTo>
                      <a:pt x="623209" y="2503382"/>
                      <a:pt x="710302" y="2664249"/>
                      <a:pt x="1361366" y="2669541"/>
                    </a:cubicBezTo>
                    <a:lnTo>
                      <a:pt x="1361367" y="2669554"/>
                    </a:lnTo>
                    <a:lnTo>
                      <a:pt x="1533885" y="2669554"/>
                    </a:lnTo>
                    <a:lnTo>
                      <a:pt x="1534161" y="2667992"/>
                    </a:lnTo>
                    <a:cubicBezTo>
                      <a:pt x="2074969" y="2659537"/>
                      <a:pt x="2187153" y="2447375"/>
                      <a:pt x="2194561" y="22455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8" name="正方形/長方形 30">
                <a:extLst>
                  <a:ext uri="{FF2B5EF4-FFF2-40B4-BE49-F238E27FC236}">
                    <a16:creationId xmlns:a16="http://schemas.microsoft.com/office/drawing/2014/main" id="{A76EA240-6117-53D7-2F5F-3B25A2F6C94E}"/>
                  </a:ext>
                </a:extLst>
              </p:cNvPr>
              <p:cNvSpPr/>
              <p:nvPr/>
            </p:nvSpPr>
            <p:spPr>
              <a:xfrm>
                <a:off x="2246994" y="5922947"/>
                <a:ext cx="522152" cy="504169"/>
              </a:xfrm>
              <a:custGeom>
                <a:avLst/>
                <a:gdLst/>
                <a:ahLst/>
                <a:cxnLst/>
                <a:rect l="l" t="t" r="r" b="b"/>
                <a:pathLst>
                  <a:path w="3535511" h="3413745">
                    <a:moveTo>
                      <a:pt x="2018419" y="1804022"/>
                    </a:moveTo>
                    <a:lnTo>
                      <a:pt x="2018419" y="2010399"/>
                    </a:lnTo>
                    <a:lnTo>
                      <a:pt x="2838449" y="2010399"/>
                    </a:lnTo>
                    <a:lnTo>
                      <a:pt x="2838449" y="1804022"/>
                    </a:lnTo>
                    <a:close/>
                    <a:moveTo>
                      <a:pt x="697061" y="1804022"/>
                    </a:moveTo>
                    <a:lnTo>
                      <a:pt x="697061" y="2010399"/>
                    </a:lnTo>
                    <a:lnTo>
                      <a:pt x="1517091" y="2010399"/>
                    </a:lnTo>
                    <a:lnTo>
                      <a:pt x="1517091" y="1804022"/>
                    </a:lnTo>
                    <a:close/>
                    <a:moveTo>
                      <a:pt x="2018419" y="1248397"/>
                    </a:moveTo>
                    <a:lnTo>
                      <a:pt x="2018419" y="1454774"/>
                    </a:lnTo>
                    <a:lnTo>
                      <a:pt x="2838449" y="1454774"/>
                    </a:lnTo>
                    <a:lnTo>
                      <a:pt x="2838449" y="1248397"/>
                    </a:lnTo>
                    <a:close/>
                    <a:moveTo>
                      <a:pt x="697061" y="1248397"/>
                    </a:moveTo>
                    <a:lnTo>
                      <a:pt x="697061" y="1454774"/>
                    </a:lnTo>
                    <a:lnTo>
                      <a:pt x="1517091" y="1454774"/>
                    </a:lnTo>
                    <a:lnTo>
                      <a:pt x="1517091" y="1248397"/>
                    </a:lnTo>
                    <a:close/>
                    <a:moveTo>
                      <a:pt x="1517091" y="0"/>
                    </a:moveTo>
                    <a:lnTo>
                      <a:pt x="2018419" y="0"/>
                    </a:lnTo>
                    <a:lnTo>
                      <a:pt x="2018419" y="238748"/>
                    </a:lnTo>
                    <a:lnTo>
                      <a:pt x="3535511" y="238748"/>
                    </a:lnTo>
                    <a:lnTo>
                      <a:pt x="3535511" y="695950"/>
                    </a:lnTo>
                    <a:lnTo>
                      <a:pt x="2018419" y="695950"/>
                    </a:lnTo>
                    <a:lnTo>
                      <a:pt x="2018419" y="848349"/>
                    </a:lnTo>
                    <a:lnTo>
                      <a:pt x="2838449" y="848349"/>
                    </a:lnTo>
                    <a:lnTo>
                      <a:pt x="3389461" y="848349"/>
                    </a:lnTo>
                    <a:lnTo>
                      <a:pt x="3389461" y="1248397"/>
                    </a:lnTo>
                    <a:lnTo>
                      <a:pt x="3389461" y="1454774"/>
                    </a:lnTo>
                    <a:lnTo>
                      <a:pt x="3389461" y="1804022"/>
                    </a:lnTo>
                    <a:lnTo>
                      <a:pt x="3389461" y="2010399"/>
                    </a:lnTo>
                    <a:lnTo>
                      <a:pt x="3389461" y="2410447"/>
                    </a:lnTo>
                    <a:lnTo>
                      <a:pt x="2838449" y="2410447"/>
                    </a:lnTo>
                    <a:lnTo>
                      <a:pt x="2714403" y="2410447"/>
                    </a:lnTo>
                    <a:cubicBezTo>
                      <a:pt x="2888978" y="2629080"/>
                      <a:pt x="3308671" y="2847860"/>
                      <a:pt x="3534643" y="2863639"/>
                    </a:cubicBezTo>
                    <a:lnTo>
                      <a:pt x="3534643" y="3358038"/>
                    </a:lnTo>
                    <a:cubicBezTo>
                      <a:pt x="3140361" y="3341190"/>
                      <a:pt x="2355758" y="2943305"/>
                      <a:pt x="2018419" y="2430467"/>
                    </a:cubicBezTo>
                    <a:lnTo>
                      <a:pt x="2018419" y="3413745"/>
                    </a:lnTo>
                    <a:lnTo>
                      <a:pt x="1517091" y="3413745"/>
                    </a:lnTo>
                    <a:lnTo>
                      <a:pt x="1517091" y="2430467"/>
                    </a:lnTo>
                    <a:cubicBezTo>
                      <a:pt x="1179752" y="2943305"/>
                      <a:pt x="395149" y="3341190"/>
                      <a:pt x="867" y="3358038"/>
                    </a:cubicBezTo>
                    <a:lnTo>
                      <a:pt x="867" y="2863639"/>
                    </a:lnTo>
                    <a:cubicBezTo>
                      <a:pt x="226839" y="2847860"/>
                      <a:pt x="646532" y="2629080"/>
                      <a:pt x="821106" y="2410447"/>
                    </a:cubicBezTo>
                    <a:lnTo>
                      <a:pt x="697061" y="2410447"/>
                    </a:lnTo>
                    <a:lnTo>
                      <a:pt x="146049" y="2410447"/>
                    </a:lnTo>
                    <a:lnTo>
                      <a:pt x="146049" y="2010399"/>
                    </a:lnTo>
                    <a:lnTo>
                      <a:pt x="146049" y="1804022"/>
                    </a:lnTo>
                    <a:lnTo>
                      <a:pt x="146049" y="1454774"/>
                    </a:lnTo>
                    <a:lnTo>
                      <a:pt x="146049" y="1248397"/>
                    </a:lnTo>
                    <a:lnTo>
                      <a:pt x="146049" y="848349"/>
                    </a:lnTo>
                    <a:lnTo>
                      <a:pt x="697061" y="848349"/>
                    </a:lnTo>
                    <a:lnTo>
                      <a:pt x="1517091" y="848349"/>
                    </a:lnTo>
                    <a:lnTo>
                      <a:pt x="1517091" y="695950"/>
                    </a:lnTo>
                    <a:lnTo>
                      <a:pt x="0" y="695950"/>
                    </a:lnTo>
                    <a:lnTo>
                      <a:pt x="0" y="238748"/>
                    </a:lnTo>
                    <a:lnTo>
                      <a:pt x="1517091" y="2387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9" name="正方形/長方形 42">
                <a:extLst>
                  <a:ext uri="{FF2B5EF4-FFF2-40B4-BE49-F238E27FC236}">
                    <a16:creationId xmlns:a16="http://schemas.microsoft.com/office/drawing/2014/main" id="{9A6CD626-4B79-2DAC-919D-8813E1E0CA3A}"/>
                  </a:ext>
                </a:extLst>
              </p:cNvPr>
              <p:cNvSpPr/>
              <p:nvPr/>
            </p:nvSpPr>
            <p:spPr>
              <a:xfrm>
                <a:off x="2836413" y="5958207"/>
                <a:ext cx="427164" cy="468909"/>
              </a:xfrm>
              <a:custGeom>
                <a:avLst/>
                <a:gdLst/>
                <a:ahLst/>
                <a:cxnLst/>
                <a:rect l="l" t="t" r="r" b="b"/>
                <a:pathLst>
                  <a:path w="2892338" h="3175000">
                    <a:moveTo>
                      <a:pt x="542838" y="1783472"/>
                    </a:moveTo>
                    <a:lnTo>
                      <a:pt x="542838" y="2702009"/>
                    </a:lnTo>
                    <a:lnTo>
                      <a:pt x="2349500" y="2702009"/>
                    </a:lnTo>
                    <a:lnTo>
                      <a:pt x="2349500" y="1783472"/>
                    </a:lnTo>
                    <a:close/>
                    <a:moveTo>
                      <a:pt x="542838" y="472992"/>
                    </a:moveTo>
                    <a:lnTo>
                      <a:pt x="542838" y="1310481"/>
                    </a:lnTo>
                    <a:lnTo>
                      <a:pt x="2349500" y="1310481"/>
                    </a:lnTo>
                    <a:lnTo>
                      <a:pt x="2349500" y="472992"/>
                    </a:lnTo>
                    <a:close/>
                    <a:moveTo>
                      <a:pt x="0" y="0"/>
                    </a:moveTo>
                    <a:lnTo>
                      <a:pt x="542838" y="0"/>
                    </a:lnTo>
                    <a:lnTo>
                      <a:pt x="542838" y="1"/>
                    </a:lnTo>
                    <a:lnTo>
                      <a:pt x="2349500" y="1"/>
                    </a:lnTo>
                    <a:lnTo>
                      <a:pt x="2349500" y="0"/>
                    </a:lnTo>
                    <a:lnTo>
                      <a:pt x="2892338" y="0"/>
                    </a:lnTo>
                    <a:lnTo>
                      <a:pt x="2892338" y="3174998"/>
                    </a:lnTo>
                    <a:lnTo>
                      <a:pt x="2775198" y="3174998"/>
                    </a:lnTo>
                    <a:lnTo>
                      <a:pt x="2775198" y="3175000"/>
                    </a:lnTo>
                    <a:lnTo>
                      <a:pt x="68220" y="3175000"/>
                    </a:lnTo>
                    <a:lnTo>
                      <a:pt x="68220" y="3174998"/>
                    </a:lnTo>
                    <a:lnTo>
                      <a:pt x="0" y="31749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10" name="正方形/長方形 49">
                <a:extLst>
                  <a:ext uri="{FF2B5EF4-FFF2-40B4-BE49-F238E27FC236}">
                    <a16:creationId xmlns:a16="http://schemas.microsoft.com/office/drawing/2014/main" id="{887083CC-0BDC-42A8-C40D-F8F6200C08BB}"/>
                  </a:ext>
                </a:extLst>
              </p:cNvPr>
              <p:cNvSpPr/>
              <p:nvPr/>
            </p:nvSpPr>
            <p:spPr>
              <a:xfrm rot="5400000">
                <a:off x="3329565" y="5923462"/>
                <a:ext cx="509796" cy="508767"/>
              </a:xfrm>
              <a:custGeom>
                <a:avLst/>
                <a:gdLst/>
                <a:ahLst/>
                <a:cxnLst/>
                <a:rect l="l" t="t" r="r" b="b"/>
                <a:pathLst>
                  <a:path w="3451847" h="3444875">
                    <a:moveTo>
                      <a:pt x="0" y="1989587"/>
                    </a:moveTo>
                    <a:lnTo>
                      <a:pt x="0" y="1446749"/>
                    </a:lnTo>
                    <a:lnTo>
                      <a:pt x="564980" y="1446749"/>
                    </a:lnTo>
                    <a:lnTo>
                      <a:pt x="564980" y="0"/>
                    </a:lnTo>
                    <a:lnTo>
                      <a:pt x="1037971" y="0"/>
                    </a:lnTo>
                    <a:lnTo>
                      <a:pt x="1037971" y="954578"/>
                    </a:lnTo>
                    <a:cubicBezTo>
                      <a:pt x="1504719" y="833710"/>
                      <a:pt x="2104887" y="573298"/>
                      <a:pt x="2491275" y="0"/>
                    </a:cubicBezTo>
                    <a:lnTo>
                      <a:pt x="3098548" y="0"/>
                    </a:lnTo>
                    <a:cubicBezTo>
                      <a:pt x="2572412" y="837834"/>
                      <a:pt x="1857057" y="1323704"/>
                      <a:pt x="1114567" y="1446749"/>
                    </a:cubicBezTo>
                    <a:lnTo>
                      <a:pt x="2457283" y="1446749"/>
                    </a:lnTo>
                    <a:lnTo>
                      <a:pt x="2457283" y="882650"/>
                    </a:lnTo>
                    <a:lnTo>
                      <a:pt x="2930274" y="882650"/>
                    </a:lnTo>
                    <a:lnTo>
                      <a:pt x="2930274" y="1446749"/>
                    </a:lnTo>
                    <a:lnTo>
                      <a:pt x="3451847" y="1446749"/>
                    </a:lnTo>
                    <a:lnTo>
                      <a:pt x="3451847" y="1989587"/>
                    </a:lnTo>
                    <a:lnTo>
                      <a:pt x="2930274" y="1989587"/>
                    </a:lnTo>
                    <a:lnTo>
                      <a:pt x="2930274" y="2553684"/>
                    </a:lnTo>
                    <a:lnTo>
                      <a:pt x="2457283" y="2553684"/>
                    </a:lnTo>
                    <a:lnTo>
                      <a:pt x="2457283" y="1989587"/>
                    </a:lnTo>
                    <a:lnTo>
                      <a:pt x="1061690" y="1989587"/>
                    </a:lnTo>
                    <a:cubicBezTo>
                      <a:pt x="1822961" y="2098286"/>
                      <a:pt x="2559912" y="2587138"/>
                      <a:pt x="3098547" y="3444875"/>
                    </a:cubicBezTo>
                    <a:lnTo>
                      <a:pt x="2491274" y="3444875"/>
                    </a:lnTo>
                    <a:cubicBezTo>
                      <a:pt x="2104886" y="2871578"/>
                      <a:pt x="1504719" y="2611166"/>
                      <a:pt x="1037971" y="2490298"/>
                    </a:cubicBezTo>
                    <a:lnTo>
                      <a:pt x="1037971" y="3436334"/>
                    </a:lnTo>
                    <a:lnTo>
                      <a:pt x="564980" y="3436334"/>
                    </a:lnTo>
                    <a:lnTo>
                      <a:pt x="564980" y="19895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  <p:sp>
          <p:nvSpPr>
            <p:cNvPr id="4" name="フリーフォーム 42">
              <a:extLst>
                <a:ext uri="{FF2B5EF4-FFF2-40B4-BE49-F238E27FC236}">
                  <a16:creationId xmlns:a16="http://schemas.microsoft.com/office/drawing/2014/main" id="{D4216BE5-1FF5-43E9-A221-A08F3C50EFCB}"/>
                </a:ext>
              </a:extLst>
            </p:cNvPr>
            <p:cNvSpPr/>
            <p:nvPr/>
          </p:nvSpPr>
          <p:spPr>
            <a:xfrm>
              <a:off x="728453" y="1526554"/>
              <a:ext cx="1778804" cy="955029"/>
            </a:xfrm>
            <a:custGeom>
              <a:avLst/>
              <a:gdLst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47098" h="2548687">
                  <a:moveTo>
                    <a:pt x="1814209" y="0"/>
                  </a:moveTo>
                  <a:lnTo>
                    <a:pt x="4143983" y="0"/>
                  </a:lnTo>
                  <a:cubicBezTo>
                    <a:pt x="4324080" y="6486"/>
                    <a:pt x="4721157" y="221304"/>
                    <a:pt x="4717915" y="807396"/>
                  </a:cubicBezTo>
                  <a:cubicBezTo>
                    <a:pt x="4714673" y="1393488"/>
                    <a:pt x="4381163" y="1587230"/>
                    <a:pt x="4231532" y="1590473"/>
                  </a:cubicBezTo>
                  <a:cubicBezTo>
                    <a:pt x="4081901" y="1593716"/>
                    <a:pt x="4033737" y="1590473"/>
                    <a:pt x="3934839" y="1590473"/>
                  </a:cubicBezTo>
                  <a:lnTo>
                    <a:pt x="4747098" y="2519464"/>
                  </a:lnTo>
                  <a:lnTo>
                    <a:pt x="3934839" y="2519464"/>
                  </a:lnTo>
                  <a:lnTo>
                    <a:pt x="2767519" y="1035996"/>
                  </a:lnTo>
                  <a:lnTo>
                    <a:pt x="3934839" y="1035996"/>
                  </a:lnTo>
                  <a:cubicBezTo>
                    <a:pt x="3999995" y="1042582"/>
                    <a:pt x="4108316" y="980872"/>
                    <a:pt x="4100209" y="807396"/>
                  </a:cubicBezTo>
                  <a:cubicBezTo>
                    <a:pt x="4106694" y="616085"/>
                    <a:pt x="3984644" y="570689"/>
                    <a:pt x="3929975" y="569068"/>
                  </a:cubicBezTo>
                  <a:cubicBezTo>
                    <a:pt x="3875306" y="567447"/>
                    <a:pt x="2928026" y="569068"/>
                    <a:pt x="2427051" y="569068"/>
                  </a:cubicBezTo>
                  <a:lnTo>
                    <a:pt x="2427051" y="1857983"/>
                  </a:lnTo>
                  <a:cubicBezTo>
                    <a:pt x="2423808" y="2375170"/>
                    <a:pt x="1817451" y="2547026"/>
                    <a:pt x="1177047" y="2548647"/>
                  </a:cubicBezTo>
                  <a:cubicBezTo>
                    <a:pt x="599873" y="2551890"/>
                    <a:pt x="8106" y="2360578"/>
                    <a:pt x="0" y="1857983"/>
                  </a:cubicBezTo>
                  <a:lnTo>
                    <a:pt x="0" y="1035996"/>
                  </a:lnTo>
                  <a:lnTo>
                    <a:pt x="612843" y="1035996"/>
                  </a:lnTo>
                  <a:lnTo>
                    <a:pt x="612843" y="1726660"/>
                  </a:lnTo>
                  <a:cubicBezTo>
                    <a:pt x="612843" y="1952017"/>
                    <a:pt x="924128" y="1987686"/>
                    <a:pt x="1167319" y="1979579"/>
                  </a:cubicBezTo>
                  <a:cubicBezTo>
                    <a:pt x="1431588" y="1984443"/>
                    <a:pt x="1822316" y="1955260"/>
                    <a:pt x="1814209" y="1731524"/>
                  </a:cubicBezTo>
                  <a:lnTo>
                    <a:pt x="1814209" y="0"/>
                  </a:lnTo>
                  <a:close/>
                </a:path>
              </a:pathLst>
            </a:custGeom>
            <a:solidFill>
              <a:srgbClr val="37864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633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067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0695E7A-FA2A-9C9E-46CA-4B5B762E48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3496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695E7A-FA2A-9C9E-46CA-4B5B762E48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3DFFD8-4A20-1DDC-4682-098E9C1F1AA0}"/>
              </a:ext>
            </a:extLst>
          </p:cNvPr>
          <p:cNvSpPr/>
          <p:nvPr userDrawn="1"/>
        </p:nvSpPr>
        <p:spPr>
          <a:xfrm>
            <a:off x="0" y="0"/>
            <a:ext cx="268605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8CE85A16-39F5-27A2-667B-7F65FEE27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599" y="3350829"/>
            <a:ext cx="2452502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Index</a:t>
            </a:r>
            <a:endParaRPr kumimoji="1" lang="ja-JP" altLang="en-US"/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BFFAC5A5-87A8-6EDF-7A01-B5B05C43A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5950" y="2979604"/>
            <a:ext cx="2454151" cy="529459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263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40A7242-56B2-1EBB-E72F-8133D631DC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7847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0A7242-56B2-1EBB-E72F-8133D631DC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vert="horz" anchor="b">
            <a:normAutofit/>
          </a:bodyPr>
          <a:lstStyle>
            <a:lvl1pPr algn="ctr">
              <a:defRPr sz="6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805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6E2069F-C0C1-F131-1568-F321647BC1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7905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E2069F-C0C1-F131-1568-F321647BC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7936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581D5FD-F2B9-DF43-1C46-56F2E8936E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58142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81D5FD-F2B9-DF43-1C46-56F2E8936E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vert="horz" anchor="b">
            <a:normAutofit/>
          </a:bodyPr>
          <a:lstStyle>
            <a:lvl1pPr>
              <a:defRPr sz="60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1460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10926DC-AB6E-D540-F50E-FAA683E49A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331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926DC-AB6E-D540-F50E-FAA683E49A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4562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D4ECC55-4CBC-B88F-C5FB-1E11625B99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5428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4ECC55-4CBC-B88F-C5FB-1E11625B99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90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5AFD5B1-4F11-792C-C204-2CB09BB776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76364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AFD5B1-4F11-792C-C204-2CB09BB776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39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EC6758B-D8B3-D571-DAA3-56CEDD5674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50849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C6758B-D8B3-D571-DAA3-56CEDD567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3268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4A7B7F4-C605-F09F-3757-77C9CCD44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41553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A7B7F4-C605-F09F-3757-77C9CCD44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 sz="2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 sz="2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73348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10F27A3-38EC-DC96-FE40-32769370F5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9399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0F27A3-38EC-DC96-FE40-32769370F5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614241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D37E401-6123-C899-D4DF-4515EE91C3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6936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37E401-6123-C899-D4DF-4515EE91C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6230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579E6D9-4D2E-C195-8665-3EAA1CD20C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689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79E6D9-4D2E-C195-8665-3EAA1CD20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76203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tags" Target="../tags/tag2.xml"/><Relationship Id="rId12" Type="http://schemas.openxmlformats.org/officeDocument/2006/relationships/oleObject" Target="../embeddings/oleObject1.bin"/><Relationship Id="rId13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2.xml"/><Relationship Id="rId3" Type="http://schemas.openxmlformats.org/officeDocument/2006/relationships/tags" Target="../tags/tag12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3" Type="http://schemas.openxmlformats.org/officeDocument/2006/relationships/tags" Target="../tags/tag14.xml"/><Relationship Id="rId14" Type="http://schemas.openxmlformats.org/officeDocument/2006/relationships/oleObject" Target="../embeddings/oleObject13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0770D3-6E7C-0617-D16C-69D0D8AE0A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094896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2" imgW="398" imgH="405" progId="TCLayout.ActiveDocument.1">
                  <p:embed/>
                </p:oleObj>
              </mc:Choice>
              <mc:Fallback>
                <p:oleObj name="think-cellスライド" r:id="rId12" imgW="398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0770D3-6E7C-0617-D16C-69D0D8AE0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84030E-D975-6BAD-B261-EDFB3AAFE816}"/>
              </a:ext>
            </a:extLst>
          </p:cNvPr>
          <p:cNvSpPr/>
          <p:nvPr userDrawn="1"/>
        </p:nvSpPr>
        <p:spPr>
          <a:xfrm>
            <a:off x="0" y="6562572"/>
            <a:ext cx="12192000" cy="306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802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0" r:id="rId3"/>
    <p:sldLayoutId id="2147483659" r:id="rId4"/>
    <p:sldLayoutId id="2147483660" r:id="rId5"/>
    <p:sldLayoutId id="2147483652" r:id="rId6"/>
    <p:sldLayoutId id="2147483661" r:id="rId7"/>
    <p:sldLayoutId id="2147483654" r:id="rId8"/>
    <p:sldLayoutId id="214748365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F177D5C-6A31-54AB-2B75-D102C513B7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423836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4" imgW="398" imgH="405" progId="TCLayout.ActiveDocument.1">
                  <p:embed/>
                </p:oleObj>
              </mc:Choice>
              <mc:Fallback>
                <p:oleObj name="think-cellスライド" r:id="rId4" imgW="398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77D5C-6A31-54AB-2B75-D102C513B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037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4A0CDF2-C6EC-AC76-A649-0D16409D85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04280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4" imgW="398" imgH="405" progId="TCLayout.ActiveDocument.1">
                  <p:embed/>
                </p:oleObj>
              </mc:Choice>
              <mc:Fallback>
                <p:oleObj name="think-cellスライド" r:id="rId14" imgW="398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A0CDF2-C6EC-AC76-A649-0D16409D85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71F8A0-DF8B-E0BF-D8E2-BA24F33E177F}"/>
              </a:ext>
            </a:extLst>
          </p:cNvPr>
          <p:cNvSpPr txBox="1">
            <a:spLocks/>
          </p:cNvSpPr>
          <p:nvPr userDrawn="1"/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9D720A-4AD5-4DCF-885F-DE5297996123}" type="slidenum">
              <a:rPr kumimoji="1" lang="ja-JP" altLang="en-US" sz="1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pPr/>
              <a:t>‹#›</a:t>
            </a:fld>
            <a:endParaRPr kumimoji="1" lang="ja-JP" altLang="en-US" sz="1400" b="1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320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  <a:sym typeface="メイリオ" panose="020B0604030504040204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SX</a:t>
            </a:r>
          </a:p>
          <a:p>
            <a:r>
              <a:t>2026年2月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導入効果と今後の展開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・作成に平均8時間、急ぎの案件では徹夜も発生</a:t>
            </a:r>
          </a:p>
          <a:p>
            <a:r>
              <a:t>・デザインの属人化で品質にばらつきが生じる</a:t>
            </a:r>
          </a:p>
          <a:p>
            <a:r>
              <a:t>・過去資産が埋もれ、毎回ゼロからの作成を強いられる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2560320" cy="13716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時間の壁</a:t>
            </a:r>
            <a:br/>
            <a:r>
              <a:t>平均8時間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3474720"/>
            <a:ext cx="2560320" cy="13716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品質の壁</a:t>
            </a:r>
            <a:br/>
            <a:r>
              <a:t>属人化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3474720"/>
            <a:ext cx="2560320" cy="13716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再利用の壁</a:t>
            </a:r>
            <a:br/>
            <a:r>
              <a:t>ゼロから作成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設計意図と実行を分離する3層構造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・思考層: AIがユーザーと対話し、スライドの設計意図を決定</a:t>
            </a:r>
          </a:p>
          <a:p>
            <a:r>
              <a:t>・レシピ層: パターン・トーン・ラベルをテンプレート非依存で記述</a:t>
            </a:r>
          </a:p>
          <a:p>
            <a:r>
              <a:t>・実行層: 生成エンジンがレシピをテンプレート固有のPPTXに変換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201168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8880" y="3886200"/>
            <a:ext cx="365760" cy="457200"/>
          </a:xfrm>
          <a:prstGeom prst="rightArrow">
            <a:avLst/>
          </a:prstGeom>
          <a:solidFill>
            <a:srgbClr val="E8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34640" y="3657600"/>
            <a:ext cx="201168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レシピ層</a:t>
            </a:r>
            <a:br/>
            <a:r>
              <a:t>パターン定義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6320" y="3886200"/>
            <a:ext cx="365760" cy="457200"/>
          </a:xfrm>
          <a:prstGeom prst="rightArrow">
            <a:avLst/>
          </a:prstGeom>
          <a:solidFill>
            <a:srgbClr val="E8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3657600"/>
            <a:ext cx="201168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レシピが実現するテンプレート横断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・従来: テンプレートごとにゼロから作り直し、座標・色を手動調整</a:t>
            </a:r>
          </a:p>
          <a:p>
            <a:r>
              <a:t>・レシピ方式: 設計意図を1回記述すれば複数テンプレートに自動変換</a:t>
            </a:r>
          </a:p>
          <a:p>
            <a:r>
              <a:t>・同じレシピからSX提案書・JR提案書など異なるデザインに展開可能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3200400" cy="109728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従来</a:t>
            </a:r>
            <a:br/>
            <a:r>
              <a:t>テンプレ別に手作業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57600" y="3977639"/>
            <a:ext cx="548640" cy="457200"/>
          </a:xfrm>
          <a:prstGeom prst="rightArrow">
            <a:avLst/>
          </a:prstGeom>
          <a:solidFill>
            <a:srgbClr val="E8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3657600"/>
            <a:ext cx="3200400" cy="109728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レシピ方式</a:t>
            </a:r>
            <a:br/>
            <a:r>
              <a:t>1回の記述で複数展開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・Step1: 要望を伝える → AIが構成案とレシピを自動生成</a:t>
            </a:r>
          </a:p>
          <a:p>
            <a:r>
              <a:t>・Step2: レシピを確認・修正（パターン選択・トーン調整）</a:t>
            </a:r>
          </a:p>
          <a:p>
            <a:r>
              <a:t>・Step3: レシピからPPTXを自動生成（テンプレート準拠）</a:t>
            </a:r>
          </a:p>
          <a:p>
            <a:r>
              <a:t>・Step4: サムネイルで品質チェック → AIが改善を提案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146304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20240" y="3886200"/>
            <a:ext cx="274320" cy="457200"/>
          </a:xfrm>
          <a:prstGeom prst="rightArrow">
            <a:avLst/>
          </a:prstGeom>
          <a:solidFill>
            <a:srgbClr val="E8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4560" y="3657600"/>
            <a:ext cx="146304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レシピ確認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57600" y="3886200"/>
            <a:ext cx="274320" cy="457200"/>
          </a:xfrm>
          <a:prstGeom prst="rightArrow">
            <a:avLst/>
          </a:prstGeom>
          <a:solidFill>
            <a:srgbClr val="E8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31920" y="3657600"/>
            <a:ext cx="146304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94960" y="3886200"/>
            <a:ext cx="274320" cy="457200"/>
          </a:xfrm>
          <a:prstGeom prst="rightArrow">
            <a:avLst/>
          </a:prstGeom>
          <a:solidFill>
            <a:srgbClr val="E8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0" y="3657600"/>
            <a:ext cx="146304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品質確認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パターンカタログが品質の底上げを実現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・11種の構造パターン: 箇条書き、3カード、フロー、マトリクス等</a:t>
            </a:r>
          </a:p>
          <a:p>
            <a:r>
              <a:t>・6種のフレームワーク: SWOT、空雨傘、As-Is/To-Be、PDCA等</a:t>
            </a:r>
          </a:p>
          <a:p>
            <a:r>
              <a:t>・作成するたびにパターンが増え、次回以降の品質が自動的に向上</a:t>
            </a:r>
          </a:p>
          <a:p>
            <a:r>
              <a:t>・共通スキルとテンプレート固有スキルの2層で知識を管理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4. 導入効果と今後の展開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定量効果と将来ロードマップ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4. 導入効果と今後の展開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・作成時間を8時間から30分に短縮（93%削減）</a:t>
            </a:r>
          </a:p>
          <a:p>
            <a:r>
              <a:t>・テンプレート準拠でデザイン品質を完全統一</a:t>
            </a:r>
          </a:p>
          <a:p>
            <a:r>
              <a:t>・レシピ再利用で過去資産活用率を80%に向上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2560320" cy="13716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93%</a:t>
            </a:r>
            <a:br/>
            <a:r>
              <a:t>時間削減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3474720"/>
            <a:ext cx="2560320" cy="13716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100%</a:t>
            </a:r>
            <a:br/>
            <a:r>
              <a:t>品質統一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3474720"/>
            <a:ext cx="2560320" cy="13716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80%</a:t>
            </a:r>
            <a:br/>
            <a:r>
              <a:t>再利用率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1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2.xml><?xml version="1.0" encoding="utf-8"?>
<a:theme xmlns:a="http://schemas.openxmlformats.org/drawingml/2006/main" name="1_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3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東日本旅客鉄道株式会社テンプレート（非公式）</Template>
  <TotalTime>347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0" baseType="lpstr">
      <vt:lpstr>メイリオ</vt:lpstr>
      <vt:lpstr>游ゴシック</vt:lpstr>
      <vt:lpstr>Arial</vt:lpstr>
      <vt:lpstr>Wingdings</vt:lpstr>
      <vt:lpstr>Wingdings 2</vt:lpstr>
      <vt:lpstr>Office テーマ</vt:lpstr>
      <vt:lpstr>1_Office テーマ</vt:lpstr>
      <vt:lpstr>1_HDOfficeLightV0</vt:lpstr>
      <vt:lpstr>think-cellスライド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Okuda Mitsuhiro</cp:lastModifiedBy>
  <cp:revision>21</cp:revision>
  <cp:lastPrinted>2026-01-30T02:31:55Z</cp:lastPrinted>
  <dcterms:created xsi:type="dcterms:W3CDTF">2025-10-07T06:53:21Z</dcterms:created>
  <dcterms:modified xsi:type="dcterms:W3CDTF">2026-02-12T09:46:06Z</dcterms:modified>
</cp:coreProperties>
</file>