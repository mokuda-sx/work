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+ 人間協働：3層フロー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段階ごとに必要なコンテキストだけを読み込むことで、AIの生成品質を最適化する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911656" y="1412748"/>
            <a:ext cx="1463040" cy="822960"/>
          </a:xfrm>
          <a:prstGeom prst="rect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Tier 1</a:t>
            </a:r>
          </a:p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構成設計</a:t>
            </a:r>
          </a:p>
        </p:txBody>
      </p:sp>
      <p:sp>
        <p:nvSpPr>
          <p:cNvPr id="6" name="Rectangle 5"/>
          <p:cNvSpPr/>
          <p:nvPr/>
        </p:nvSpPr>
        <p:spPr>
          <a:xfrm>
            <a:off x="2557576" y="1412748"/>
            <a:ext cx="2816352" cy="822960"/>
          </a:xfrm>
          <a:prstGeom prst="rect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構成方針</a:t>
            </a:r>
          </a:p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を決定</a:t>
            </a:r>
          </a:p>
        </p:txBody>
      </p:sp>
      <p:sp>
        <p:nvSpPr>
          <p:cNvPr id="7" name="Block Arc 6"/>
          <p:cNvSpPr/>
          <p:nvPr/>
        </p:nvSpPr>
        <p:spPr>
          <a:xfrm>
            <a:off x="5419648" y="1687068"/>
            <a:ext cx="274320" cy="274320"/>
          </a:xfrm>
          <a:prstGeom prst="blockArc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11088" y="1412748"/>
            <a:ext cx="2816352" cy="822960"/>
          </a:xfrm>
          <a:prstGeom prst="rect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outline.json</a:t>
            </a:r>
          </a:p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生成</a:t>
            </a:r>
          </a:p>
        </p:txBody>
      </p:sp>
      <p:sp>
        <p:nvSpPr>
          <p:cNvPr id="9" name="Block Arc 8"/>
          <p:cNvSpPr/>
          <p:nvPr/>
        </p:nvSpPr>
        <p:spPr>
          <a:xfrm>
            <a:off x="8373160" y="1687068"/>
            <a:ext cx="274320" cy="274320"/>
          </a:xfrm>
          <a:prstGeom prst="blockArc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64600" y="1412748"/>
            <a:ext cx="2816352" cy="822960"/>
          </a:xfrm>
          <a:prstGeom prst="rect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スライド</a:t>
            </a:r>
          </a:p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構成確定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1656" y="2372868"/>
            <a:ext cx="1463040" cy="822960"/>
          </a:xfrm>
          <a:prstGeom prst="rect">
            <a:avLst/>
          </a:prstGeom>
          <a:solidFill>
            <a:srgbClr val="8FAADC"/>
          </a:solidFill>
          <a:ln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Recipe</a:t>
            </a:r>
          </a:p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意図設計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57576" y="2372868"/>
            <a:ext cx="2816352" cy="822960"/>
          </a:xfrm>
          <a:prstGeom prst="rect">
            <a:avLst/>
          </a:prstGeom>
          <a:solidFill>
            <a:srgbClr val="8FAADC"/>
          </a:solidFill>
          <a:ln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スライド</a:t>
            </a:r>
          </a:p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パターン選択</a:t>
            </a:r>
          </a:p>
        </p:txBody>
      </p:sp>
      <p:sp>
        <p:nvSpPr>
          <p:cNvPr id="13" name="Block Arc 12"/>
          <p:cNvSpPr/>
          <p:nvPr/>
        </p:nvSpPr>
        <p:spPr>
          <a:xfrm>
            <a:off x="5419648" y="2647188"/>
            <a:ext cx="274320" cy="274320"/>
          </a:xfrm>
          <a:prstGeom prst="blockArc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11088" y="2372868"/>
            <a:ext cx="2816352" cy="822960"/>
          </a:xfrm>
          <a:prstGeom prst="rect">
            <a:avLst/>
          </a:prstGeom>
          <a:solidFill>
            <a:srgbClr val="8FAADC"/>
          </a:solidFill>
          <a:ln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レイアウト</a:t>
            </a:r>
          </a:p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の設計</a:t>
            </a:r>
          </a:p>
        </p:txBody>
      </p:sp>
      <p:sp>
        <p:nvSpPr>
          <p:cNvPr id="15" name="Block Arc 14"/>
          <p:cNvSpPr/>
          <p:nvPr/>
        </p:nvSpPr>
        <p:spPr>
          <a:xfrm>
            <a:off x="8373160" y="2647188"/>
            <a:ext cx="274320" cy="274320"/>
          </a:xfrm>
          <a:prstGeom prst="blockArc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64600" y="2372868"/>
            <a:ext cx="2816352" cy="822960"/>
          </a:xfrm>
          <a:prstGeom prst="rect">
            <a:avLst/>
          </a:prstGeom>
          <a:solidFill>
            <a:srgbClr val="8FAADC"/>
          </a:solidFill>
          <a:ln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recipe.json</a:t>
            </a:r>
          </a:p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生成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1656" y="3332987"/>
            <a:ext cx="1463040" cy="82296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Tier 2</a:t>
            </a:r>
          </a:p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実装設計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57576" y="3332987"/>
            <a:ext cx="2816352" cy="82296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色・フォント</a:t>
            </a:r>
          </a:p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指定</a:t>
            </a:r>
          </a:p>
        </p:txBody>
      </p:sp>
      <p:sp>
        <p:nvSpPr>
          <p:cNvPr id="19" name="Block Arc 18"/>
          <p:cNvSpPr/>
          <p:nvPr/>
        </p:nvSpPr>
        <p:spPr>
          <a:xfrm>
            <a:off x="5419648" y="3607308"/>
            <a:ext cx="274320" cy="274320"/>
          </a:xfrm>
          <a:prstGeom prst="blockArc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11088" y="3332987"/>
            <a:ext cx="2816352" cy="82296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座標</a:t>
            </a:r>
          </a:p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配置</a:t>
            </a:r>
          </a:p>
        </p:txBody>
      </p:sp>
      <p:sp>
        <p:nvSpPr>
          <p:cNvPr id="21" name="Block Arc 20"/>
          <p:cNvSpPr/>
          <p:nvPr/>
        </p:nvSpPr>
        <p:spPr>
          <a:xfrm>
            <a:off x="8373160" y="3607308"/>
            <a:ext cx="274320" cy="274320"/>
          </a:xfrm>
          <a:prstGeom prst="blockArc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64600" y="3332987"/>
            <a:ext cx="2816352" cy="82296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PPTX JSON</a:t>
            </a:r>
          </a:p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