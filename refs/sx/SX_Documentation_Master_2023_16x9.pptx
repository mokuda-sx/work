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25" r:id="rId2"/>
    <p:sldId id="326" r:id="rId3"/>
    <p:sldId id="327" r:id="rId4"/>
    <p:sldId id="341" r:id="rId5"/>
    <p:sldId id="340" r:id="rId6"/>
    <p:sldId id="296" r:id="rId7"/>
    <p:sldId id="331" r:id="rId8"/>
    <p:sldId id="323" r:id="rId9"/>
    <p:sldId id="332" r:id="rId10"/>
    <p:sldId id="300" r:id="rId11"/>
    <p:sldId id="339" r:id="rId12"/>
    <p:sldId id="314" r:id="rId13"/>
    <p:sldId id="338" r:id="rId14"/>
    <p:sldId id="321" r:id="rId15"/>
    <p:sldId id="334" r:id="rId16"/>
    <p:sldId id="333" r:id="rId17"/>
    <p:sldId id="335" r:id="rId18"/>
    <p:sldId id="336" r:id="rId19"/>
    <p:sldId id="337" r:id="rId20"/>
    <p:sldId id="310" r:id="rId21"/>
    <p:sldId id="311" r:id="rId22"/>
    <p:sldId id="312" r:id="rId2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>
            <p14:sldId id="325"/>
            <p14:sldId id="326"/>
            <p14:sldId id="327"/>
            <p14:sldId id="341"/>
            <p14:sldId id="340"/>
            <p14:sldId id="296"/>
            <p14:sldId id="331"/>
            <p14:sldId id="323"/>
            <p14:sldId id="332"/>
            <p14:sldId id="300"/>
            <p14:sldId id="339"/>
            <p14:sldId id="314"/>
            <p14:sldId id="338"/>
            <p14:sldId id="321"/>
            <p14:sldId id="334"/>
            <p14:sldId id="333"/>
            <p14:sldId id="335"/>
            <p14:sldId id="336"/>
            <p14:sldId id="337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39" autoAdjust="0"/>
    <p:restoredTop sz="93899" autoAdjust="0"/>
  </p:normalViewPr>
  <p:slideViewPr>
    <p:cSldViewPr showGuides="1">
      <p:cViewPr varScale="1">
        <p:scale>
          <a:sx n="102" d="100"/>
          <a:sy n="102" d="100"/>
        </p:scale>
        <p:origin x="150" y="2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2023/7/7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2023/7/7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hyperlink" Target="https://cms51.sigmaxyz.com/rules-and-guide/information-security/information-security-10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fao.org/faostat/" TargetMode="External"/><Relationship Id="rId4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C585F2-9C3E-6F4A-A30D-974DE299FD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シグマクシス　パワーポイントテンプレート　活用ガイド（</a:t>
            </a:r>
            <a:r>
              <a:rPr lang="en-US" altLang="ja-JP" dirty="0"/>
              <a:t>1/4)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64A36D-E594-B240-BEF0-36D2A6601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1" dirty="0">
                <a:latin typeface="+mn-ea"/>
              </a:rPr>
              <a:t>パワーポイントテンプレートについて</a:t>
            </a:r>
            <a:endParaRPr lang="en-US" altLang="ja-JP" b="1" dirty="0">
              <a:latin typeface="+mn-ea"/>
            </a:endParaRPr>
          </a:p>
          <a:p>
            <a:pPr marL="270000" lvl="1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r>
              <a:rPr lang="ja-JP" altLang="en-US" sz="1200" dirty="0">
                <a:latin typeface="+mn-ea"/>
              </a:rPr>
              <a:t>企業理念とロゴのコンセプトを反映してデザインしています。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b="1" dirty="0">
              <a:latin typeface="+mn-ea"/>
            </a:endParaRPr>
          </a:p>
          <a:p>
            <a:pPr marL="0" indent="0">
              <a:buNone/>
            </a:pPr>
            <a:r>
              <a:rPr lang="ja-JP" altLang="en-US" b="1" dirty="0">
                <a:latin typeface="+mn-ea"/>
              </a:rPr>
              <a:t>パワーポイントテンプレートの種類</a:t>
            </a:r>
            <a:endParaRPr lang="en-US" altLang="ja-JP" b="1" dirty="0">
              <a:latin typeface="+mn-ea"/>
            </a:endParaRPr>
          </a:p>
          <a:p>
            <a:pPr marL="0" indent="0">
              <a:buNone/>
            </a:pPr>
            <a:r>
              <a:rPr lang="ja-JP" altLang="en-US" dirty="0">
                <a:latin typeface="+mn-ea"/>
              </a:rPr>
              <a:t>　　</a:t>
            </a:r>
            <a:endParaRPr lang="en-US" altLang="ja-JP" dirty="0">
              <a:latin typeface="+mn-ea"/>
            </a:endParaRPr>
          </a:p>
          <a:p>
            <a:pPr marL="0" indent="0">
              <a:buNone/>
            </a:pPr>
            <a:r>
              <a:rPr lang="en-US" altLang="ja-JP" sz="1200" dirty="0">
                <a:latin typeface="+mn-ea"/>
              </a:rPr>
              <a:t>2</a:t>
            </a:r>
            <a:r>
              <a:rPr lang="ja-JP" altLang="en-US" sz="1200" dirty="0">
                <a:latin typeface="+mn-ea"/>
              </a:rPr>
              <a:t>種類のテンプレートをご用意しています。</a:t>
            </a:r>
            <a:br>
              <a:rPr lang="en-US" altLang="ja-JP" sz="1200" dirty="0">
                <a:latin typeface="+mn-ea"/>
              </a:rPr>
            </a:br>
            <a:r>
              <a:rPr lang="ja-JP" altLang="en-US" b="1" dirty="0">
                <a:solidFill>
                  <a:schemeClr val="bg2"/>
                </a:solidFill>
                <a:latin typeface="+mn-ea"/>
              </a:rPr>
              <a:t>このファイルは「ドキュメンテーション用テンプレート」です。</a:t>
            </a:r>
            <a:endParaRPr lang="en-US" altLang="ja-JP" b="1" dirty="0">
              <a:solidFill>
                <a:schemeClr val="bg2"/>
              </a:solidFill>
              <a:latin typeface="+mn-ea"/>
            </a:endParaRPr>
          </a:p>
          <a:p>
            <a:pPr marL="0" indent="0">
              <a:buNone/>
            </a:pPr>
            <a:endParaRPr lang="en-US" altLang="ja-JP" sz="1200" b="1" dirty="0">
              <a:solidFill>
                <a:schemeClr val="tx2"/>
              </a:solidFill>
              <a:latin typeface="+mn-ea"/>
            </a:endParaRPr>
          </a:p>
          <a:p>
            <a:pPr marL="0" indent="0">
              <a:buNone/>
            </a:pPr>
            <a:r>
              <a:rPr lang="ja-JP" altLang="en-US" sz="1200" b="1" dirty="0">
                <a:latin typeface="+mn-ea"/>
              </a:rPr>
              <a:t>①　ドキュメンテーション用テンプレート：</a:t>
            </a:r>
            <a:br>
              <a:rPr lang="en-US" altLang="ja-JP" sz="1200" dirty="0">
                <a:latin typeface="+mn-ea"/>
              </a:rPr>
            </a:br>
            <a:r>
              <a:rPr lang="ja-JP" altLang="ja-JP" sz="1200" dirty="0">
                <a:latin typeface="+mn-ea"/>
              </a:rPr>
              <a:t>再利用、生産性を重視したテンプレートです。</a:t>
            </a:r>
            <a:r>
              <a:rPr lang="ja-JP" altLang="en-US" sz="1200" dirty="0">
                <a:latin typeface="+mn-ea"/>
              </a:rPr>
              <a:t>複数のメンバーで一つの資料を作る、あるいは加工する、事後に再利用する、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r>
              <a:rPr lang="ja-JP" altLang="en-US" sz="1200" dirty="0">
                <a:latin typeface="+mn-ea"/>
              </a:rPr>
              <a:t>ということを念頭に、複数のスライドのパターンを設定しています。活用ガイドに従い、</a:t>
            </a:r>
            <a:r>
              <a:rPr lang="ja-JP" altLang="ja-JP" sz="1200" dirty="0">
                <a:latin typeface="+mn-ea"/>
              </a:rPr>
              <a:t>推奨フォント、推奨カラー</a:t>
            </a:r>
            <a:r>
              <a:rPr lang="ja-JP" altLang="en-US" sz="1200" dirty="0">
                <a:latin typeface="+mn-ea"/>
              </a:rPr>
              <a:t>、ガイド値に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r>
              <a:rPr lang="ja-JP" altLang="en-US" sz="1200" dirty="0">
                <a:latin typeface="+mn-ea"/>
              </a:rPr>
              <a:t>沿って</a:t>
            </a:r>
            <a:r>
              <a:rPr lang="ja-JP" altLang="ja-JP" sz="1200" dirty="0">
                <a:latin typeface="+mn-ea"/>
              </a:rPr>
              <a:t>ご使用下さい。</a:t>
            </a:r>
          </a:p>
          <a:p>
            <a:pPr marL="270000" lvl="1" indent="0">
              <a:buNone/>
            </a:pPr>
            <a:endParaRPr lang="en-US" altLang="ja-JP" sz="1100" dirty="0">
              <a:latin typeface="+mn-ea"/>
            </a:endParaRPr>
          </a:p>
          <a:p>
            <a:pPr marL="0" indent="0">
              <a:buNone/>
            </a:pPr>
            <a:r>
              <a:rPr lang="ja-JP" altLang="en-US" sz="1200" b="1" dirty="0">
                <a:latin typeface="+mn-ea"/>
              </a:rPr>
              <a:t>②　プレゼントテーション用テンプレート：</a:t>
            </a:r>
            <a:br>
              <a:rPr lang="en-US" altLang="ja-JP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作成者の創造性と表現を</a:t>
            </a:r>
            <a:r>
              <a:rPr lang="ja-JP" altLang="ja-JP" sz="1200" dirty="0">
                <a:latin typeface="+mn-ea"/>
              </a:rPr>
              <a:t>重視し</a:t>
            </a:r>
            <a:r>
              <a:rPr lang="ja-JP" altLang="en-US" sz="1200" dirty="0">
                <a:latin typeface="+mn-ea"/>
              </a:rPr>
              <a:t>ていますので、自由にお使いください。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r>
              <a:rPr lang="ja-JP" altLang="en-US" sz="1200" dirty="0">
                <a:latin typeface="+mn-ea"/>
              </a:rPr>
              <a:t>ドキュメンテーション用と同じく、ガイド値</a:t>
            </a:r>
            <a:r>
              <a:rPr lang="ja-JP" altLang="ja-JP" sz="1200" dirty="0">
                <a:latin typeface="+mn-ea"/>
              </a:rPr>
              <a:t>、表紙・エンドスライドのロゴ表示、推奨フォント、推奨カラー</a:t>
            </a:r>
            <a:r>
              <a:rPr lang="ja-JP" altLang="en-US" sz="1200" dirty="0">
                <a:latin typeface="+mn-ea"/>
              </a:rPr>
              <a:t>の設定はしていますが、</a:t>
            </a:r>
            <a:br>
              <a:rPr lang="en-US" altLang="ja-JP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プレゼンテーションの目的に応じて、どのようにお使いいただいても結構です。</a:t>
            </a:r>
            <a:endParaRPr lang="ja-JP" altLang="ja-JP" dirty="0">
              <a:latin typeface="+mn-ea"/>
            </a:endParaRPr>
          </a:p>
          <a:p>
            <a:pPr marL="0" indent="0">
              <a:buNone/>
            </a:pPr>
            <a:r>
              <a:rPr lang="en-US" altLang="ja-JP" dirty="0">
                <a:latin typeface="+mn-ea"/>
              </a:rPr>
              <a:t> 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3988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7FE1B9-639E-E14F-AAD3-CD48421E0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シグマクシス　パワーポイントテンプレート　活用ガイド（</a:t>
            </a:r>
            <a:r>
              <a:rPr lang="en-US" altLang="ja-JP" dirty="0"/>
              <a:t>2/4)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557ABE-9A40-C645-9320-4C6BB2437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6" y="1414442"/>
            <a:ext cx="6913014" cy="5038746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dirty="0"/>
              <a:t>推奨フォントについて</a:t>
            </a:r>
          </a:p>
          <a:p>
            <a:pPr marL="270000" lvl="1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sz="1200" dirty="0">
                <a:latin typeface="+mn-ea"/>
              </a:rPr>
              <a:t>和文：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r>
              <a:rPr lang="ja-JP" altLang="en-US" sz="1200" dirty="0">
                <a:latin typeface="+mn-ea"/>
              </a:rPr>
              <a:t>①</a:t>
            </a:r>
            <a:r>
              <a:rPr lang="en-US" altLang="ja-JP" sz="1200" dirty="0">
                <a:latin typeface="+mn-ea"/>
              </a:rPr>
              <a:t>MSP</a:t>
            </a:r>
            <a:r>
              <a:rPr lang="ja-JP" altLang="en-US" sz="1200" dirty="0">
                <a:latin typeface="+mn-ea"/>
              </a:rPr>
              <a:t>ゴシック：　一般的で、印刷にも投影にも扱いやすい、相手と目的を選ばないフォントです。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r>
              <a:rPr lang="ja-JP" altLang="en-US" sz="1200" dirty="0">
                <a:latin typeface="+mn-ea"/>
              </a:rPr>
              <a:t>②游ゴシック：　　 </a:t>
            </a:r>
            <a:r>
              <a:rPr lang="en-US" altLang="ja-JP" sz="1200" dirty="0">
                <a:latin typeface="+mn-ea"/>
              </a:rPr>
              <a:t>MSP</a:t>
            </a:r>
            <a:r>
              <a:rPr lang="ja-JP" altLang="en-US" sz="1200" dirty="0">
                <a:latin typeface="+mn-ea"/>
              </a:rPr>
              <a:t>ゴシックよりもクセがないやわらかさのあるフォントです。</a:t>
            </a:r>
            <a:endParaRPr lang="en-US" altLang="ja-JP" sz="1200" dirty="0"/>
          </a:p>
          <a:p>
            <a:pPr marL="0" indent="0">
              <a:buNone/>
            </a:pPr>
            <a:endParaRPr lang="en-US" altLang="ja-JP" sz="1200" dirty="0"/>
          </a:p>
          <a:p>
            <a:r>
              <a:rPr lang="ja-JP" altLang="en-US" sz="1200" dirty="0"/>
              <a:t>資料の目的、提出するお相手によって、どちらのフォントを使うかを決めて、プロジェクト、あるいは一つの資料の中での統一を図ってください。</a:t>
            </a:r>
            <a:endParaRPr lang="en-US" altLang="ja-JP" sz="1200" dirty="0"/>
          </a:p>
          <a:p>
            <a:r>
              <a:rPr lang="ja-JP" altLang="en-US" sz="1200" dirty="0"/>
              <a:t>仕様の関係上、テンプレートの基本設定は</a:t>
            </a:r>
            <a:r>
              <a:rPr lang="ja-JP" altLang="ja-JP" sz="1200" dirty="0"/>
              <a:t>「</a:t>
            </a:r>
            <a:r>
              <a:rPr lang="en-US" altLang="ja-JP" sz="1200" dirty="0"/>
              <a:t>MSP</a:t>
            </a:r>
            <a:r>
              <a:rPr lang="ja-JP" altLang="ja-JP" sz="1200" dirty="0"/>
              <a:t>ゴシック」</a:t>
            </a:r>
            <a:r>
              <a:rPr lang="ja-JP" altLang="en-US" sz="1200" dirty="0"/>
              <a:t>に規定値を設定してあります</a:t>
            </a:r>
            <a:endParaRPr lang="en-US" altLang="ja-JP" sz="1200" dirty="0"/>
          </a:p>
          <a:p>
            <a:r>
              <a:rPr lang="ja-JP" altLang="ja-JP" sz="1200" dirty="0"/>
              <a:t>游ゴシック</a:t>
            </a:r>
            <a:r>
              <a:rPr lang="ja-JP" altLang="en-US" sz="1200" dirty="0"/>
              <a:t>の線の細さが気になる場合、また</a:t>
            </a:r>
            <a:r>
              <a:rPr lang="ja-JP" altLang="ja-JP" sz="1200" dirty="0"/>
              <a:t>タイトルに使用される際</a:t>
            </a:r>
            <a:r>
              <a:rPr lang="ja-JP" altLang="en-US" sz="1200" dirty="0"/>
              <a:t>は、</a:t>
            </a:r>
            <a:r>
              <a:rPr lang="ja-JP" altLang="ja-JP" sz="1200" dirty="0"/>
              <a:t>「游ゴシック</a:t>
            </a:r>
            <a:r>
              <a:rPr lang="en-US" altLang="ja-JP" sz="1200" dirty="0"/>
              <a:t>Medium</a:t>
            </a:r>
            <a:r>
              <a:rPr lang="ja-JP" altLang="en-US" sz="1200" dirty="0"/>
              <a:t>」</a:t>
            </a:r>
            <a:r>
              <a:rPr lang="ja-JP" altLang="ja-JP" sz="1200" dirty="0"/>
              <a:t>または</a:t>
            </a:r>
            <a:br>
              <a:rPr lang="en-US" altLang="ja-JP" sz="1200" dirty="0"/>
            </a:br>
            <a:r>
              <a:rPr lang="ja-JP" altLang="ja-JP" sz="1200" dirty="0"/>
              <a:t>ボ</a:t>
            </a:r>
            <a:r>
              <a:rPr lang="ja-JP" altLang="en-US" sz="1200" dirty="0"/>
              <a:t>ー</a:t>
            </a:r>
            <a:r>
              <a:rPr lang="ja-JP" altLang="ja-JP" sz="1200" dirty="0"/>
              <a:t>ルドにする事をお勧めします。</a:t>
            </a:r>
            <a:endParaRPr lang="en-US" altLang="ja-JP" sz="1200" dirty="0"/>
          </a:p>
          <a:p>
            <a:pPr marL="270000" lvl="1" indent="0">
              <a:buNone/>
            </a:pPr>
            <a:endParaRPr lang="en-US" altLang="ja-JP" dirty="0"/>
          </a:p>
          <a:p>
            <a:pPr marL="270000" lvl="1" indent="0">
              <a:buNone/>
            </a:pPr>
            <a:endParaRPr lang="ja-JP" altLang="ja-JP" dirty="0"/>
          </a:p>
          <a:p>
            <a:pPr marL="0" indent="0">
              <a:buNone/>
            </a:pPr>
            <a:r>
              <a:rPr lang="ja-JP" altLang="en-US" sz="1200" dirty="0"/>
              <a:t>欧</a:t>
            </a:r>
            <a:r>
              <a:rPr lang="ja-JP" altLang="ja-JP" sz="1200" dirty="0"/>
              <a:t>文：</a:t>
            </a:r>
            <a:r>
              <a:rPr lang="ja-JP" altLang="en-US" sz="1200" dirty="0"/>
              <a:t>　</a:t>
            </a:r>
            <a:r>
              <a:rPr lang="en-US" altLang="ja-JP" dirty="0">
                <a:latin typeface="Cambria" panose="02040503050406030204" pitchFamily="18" charset="0"/>
              </a:rPr>
              <a:t>Cambria</a:t>
            </a:r>
            <a:r>
              <a:rPr lang="ja-JP" altLang="en-US" sz="1600" dirty="0"/>
              <a:t>　</a:t>
            </a:r>
            <a:r>
              <a:rPr lang="en-US" altLang="ja-JP" sz="1200" dirty="0"/>
              <a:t> </a:t>
            </a:r>
            <a:endParaRPr lang="ja-JP" altLang="ja-JP" sz="1200" dirty="0"/>
          </a:p>
          <a:p>
            <a:pPr marL="0" indent="0">
              <a:buNone/>
            </a:pPr>
            <a:endParaRPr lang="en-US" altLang="ja-JP" sz="1200" dirty="0"/>
          </a:p>
          <a:p>
            <a:r>
              <a:rPr lang="ja-JP" altLang="en-US" sz="1200" dirty="0"/>
              <a:t>このフォントは「</a:t>
            </a:r>
            <a:r>
              <a:rPr lang="ja-JP" altLang="ja-JP" sz="1200" dirty="0"/>
              <a:t>全文英語</a:t>
            </a:r>
            <a:r>
              <a:rPr lang="ja-JP" altLang="en-US" sz="1200" dirty="0"/>
              <a:t>」、すなわち英語版資料を作るときの推奨フォントです。</a:t>
            </a:r>
            <a:endParaRPr lang="en-US" altLang="ja-JP" sz="1200" dirty="0"/>
          </a:p>
          <a:p>
            <a:r>
              <a:rPr lang="ja-JP" altLang="en-US" sz="1200" dirty="0"/>
              <a:t>日英混合の資料を作る（文章の一部に英単語や英文がはいる）などの場合は</a:t>
            </a:r>
            <a:br>
              <a:rPr lang="en-US" altLang="ja-JP" sz="1200" dirty="0"/>
            </a:br>
            <a:r>
              <a:rPr lang="ja-JP" altLang="ja-JP" sz="1200" dirty="0"/>
              <a:t>日英共に</a:t>
            </a:r>
            <a:r>
              <a:rPr lang="ja-JP" altLang="en-US" sz="1200" dirty="0"/>
              <a:t>統一された</a:t>
            </a:r>
            <a:r>
              <a:rPr lang="ja-JP" altLang="ja-JP" sz="1200" dirty="0"/>
              <a:t>和文フォントを使用</a:t>
            </a:r>
            <a:r>
              <a:rPr lang="ja-JP" altLang="en-US" sz="1200" dirty="0"/>
              <a:t>してください。</a:t>
            </a:r>
            <a:br>
              <a:rPr lang="en-US" altLang="ja-JP" sz="1200" dirty="0"/>
            </a:br>
            <a:r>
              <a:rPr lang="en-US" altLang="ja-JP" sz="1200" dirty="0"/>
              <a:t>※</a:t>
            </a:r>
            <a:r>
              <a:rPr lang="ja-JP" altLang="en-US" sz="1200" dirty="0"/>
              <a:t>文字の高さや幅が異なり、見た目にばらつきがでることが理由です</a:t>
            </a:r>
            <a:endParaRPr lang="en-US" altLang="ja-JP" sz="1200" dirty="0"/>
          </a:p>
          <a:p>
            <a:pPr marL="0" indent="0">
              <a:buNone/>
            </a:pPr>
            <a:r>
              <a:rPr lang="en-US" altLang="ja-JP" dirty="0"/>
              <a:t> </a:t>
            </a:r>
            <a:endParaRPr lang="ja-JP" altLang="ja-JP" dirty="0"/>
          </a:p>
          <a:p>
            <a:pPr marL="0" indent="0">
              <a:buNone/>
            </a:pPr>
            <a:r>
              <a:rPr lang="en-US" altLang="ja-JP" dirty="0"/>
              <a:t> 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40E0B97-B6EF-0341-9DE0-066B591B0566}"/>
              </a:ext>
            </a:extLst>
          </p:cNvPr>
          <p:cNvSpPr/>
          <p:nvPr/>
        </p:nvSpPr>
        <p:spPr>
          <a:xfrm>
            <a:off x="8904701" y="3280468"/>
            <a:ext cx="2376019" cy="26534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75A166-4FAA-F24E-877C-73C63BCEE233}"/>
              </a:ext>
            </a:extLst>
          </p:cNvPr>
          <p:cNvSpPr txBox="1"/>
          <p:nvPr/>
        </p:nvSpPr>
        <p:spPr>
          <a:xfrm>
            <a:off x="9120730" y="3280468"/>
            <a:ext cx="1935724" cy="258557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ja-JP" altLang="en-US" sz="1400" dirty="0">
                <a:latin typeface="+mn-ea"/>
              </a:rPr>
              <a:t>和文：</a:t>
            </a:r>
            <a:endParaRPr lang="en-US" altLang="ja-JP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dirty="0"/>
              <a:t>MSP</a:t>
            </a:r>
            <a:r>
              <a:rPr lang="ja-JP" altLang="en-US" dirty="0"/>
              <a:t>ゴシック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游ゴシック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游ゴシック</a:t>
            </a:r>
            <a:r>
              <a:rPr lang="en-US" altLang="ja-JP" sz="1200" dirty="0"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Medium</a:t>
            </a:r>
            <a:endParaRPr lang="en-US" altLang="ja-JP" dirty="0">
              <a:latin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altLang="ja-JP" sz="1400" dirty="0"/>
          </a:p>
          <a:p>
            <a:pPr>
              <a:lnSpc>
                <a:spcPct val="150000"/>
              </a:lnSpc>
            </a:pPr>
            <a:r>
              <a:rPr lang="ja-JP" altLang="en-US" sz="1400" dirty="0"/>
              <a:t>欧文：</a:t>
            </a:r>
            <a:endParaRPr lang="en-US" altLang="ja-JP" sz="1400" dirty="0"/>
          </a:p>
          <a:p>
            <a:pPr>
              <a:lnSpc>
                <a:spcPct val="150000"/>
              </a:lnSpc>
            </a:pPr>
            <a:r>
              <a:rPr lang="en-US" altLang="ja-JP" dirty="0">
                <a:latin typeface="Cambria" panose="02040503050406030204" pitchFamily="18" charset="0"/>
              </a:rPr>
              <a:t>Cambria</a:t>
            </a:r>
            <a:endParaRPr lang="en-US" altLang="ja-JP" dirty="0">
              <a:latin typeface="Cambria" panose="02040503050406030204" pitchFamily="18" charset="0"/>
              <a:ea typeface="游ゴシック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440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85D09-0F61-CD41-A548-785E70A773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シグマクシス　パワーポイントテンプレート　活用ガイド（</a:t>
            </a:r>
            <a:r>
              <a:rPr lang="en-US" altLang="ja-JP" dirty="0"/>
              <a:t>3/4)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1BE0B2-D03B-2542-9870-B949CEE3CF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>
                <a:latin typeface="+mn-ea"/>
              </a:rPr>
              <a:t>推奨カラーについて</a:t>
            </a:r>
          </a:p>
          <a:p>
            <a:pPr marL="270000" lvl="1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r>
              <a:rPr lang="ja-JP" altLang="ja-JP" sz="1200" dirty="0">
                <a:latin typeface="+mn-ea"/>
              </a:rPr>
              <a:t>基本色は白、黒、</a:t>
            </a:r>
            <a:r>
              <a:rPr lang="en-US" altLang="ja-JP" sz="1200" dirty="0">
                <a:latin typeface="+mn-ea"/>
              </a:rPr>
              <a:t>Dynamic Orange </a:t>
            </a:r>
            <a:r>
              <a:rPr lang="ja-JP" altLang="ja-JP" sz="1200" dirty="0">
                <a:latin typeface="+mn-ea"/>
              </a:rPr>
              <a:t>（シグマクシスロゴのオレンジ）の</a:t>
            </a:r>
            <a:r>
              <a:rPr lang="en-US" altLang="ja-JP" sz="1200" dirty="0">
                <a:latin typeface="+mn-ea"/>
              </a:rPr>
              <a:t>3</a:t>
            </a:r>
            <a:r>
              <a:rPr lang="ja-JP" altLang="ja-JP" sz="1200" dirty="0">
                <a:latin typeface="+mn-ea"/>
              </a:rPr>
              <a:t>色です。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r>
              <a:rPr lang="ja-JP" altLang="ja-JP" sz="1200" dirty="0">
                <a:latin typeface="+mn-ea"/>
              </a:rPr>
              <a:t>強調色は「</a:t>
            </a:r>
            <a:r>
              <a:rPr lang="en-US" altLang="ja-JP" sz="1200" b="1" dirty="0">
                <a:solidFill>
                  <a:schemeClr val="bg2"/>
                </a:solidFill>
                <a:latin typeface="+mn-ea"/>
              </a:rPr>
              <a:t>Dynamic Orange</a:t>
            </a:r>
            <a:r>
              <a:rPr lang="ja-JP" altLang="ja-JP" sz="1200" dirty="0">
                <a:latin typeface="+mn-ea"/>
              </a:rPr>
              <a:t>」を</a:t>
            </a:r>
            <a:r>
              <a:rPr lang="ja-JP" altLang="en-US" sz="1200" dirty="0">
                <a:latin typeface="+mn-ea"/>
              </a:rPr>
              <a:t>ご</a:t>
            </a:r>
            <a:r>
              <a:rPr lang="ja-JP" altLang="ja-JP" sz="1200" dirty="0">
                <a:latin typeface="+mn-ea"/>
              </a:rPr>
              <a:t>使用下さい。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r>
              <a:rPr lang="ja-JP" altLang="ja-JP" sz="1200" dirty="0">
                <a:latin typeface="+mn-ea"/>
              </a:rPr>
              <a:t>カラーパレットに</a:t>
            </a:r>
            <a:r>
              <a:rPr lang="ja-JP" altLang="en-US" sz="1200" dirty="0">
                <a:latin typeface="+mn-ea"/>
              </a:rPr>
              <a:t>、その他</a:t>
            </a:r>
            <a:r>
              <a:rPr lang="ja-JP" altLang="ja-JP" sz="1200" dirty="0">
                <a:latin typeface="+mn-ea"/>
              </a:rPr>
              <a:t>推奨色</a:t>
            </a:r>
            <a:r>
              <a:rPr lang="ja-JP" altLang="en-US" sz="1200" dirty="0">
                <a:latin typeface="+mn-ea"/>
              </a:rPr>
              <a:t>をご</a:t>
            </a:r>
            <a:r>
              <a:rPr lang="ja-JP" altLang="ja-JP" sz="1200" dirty="0">
                <a:latin typeface="+mn-ea"/>
              </a:rPr>
              <a:t>用意しています</a:t>
            </a:r>
            <a:r>
              <a:rPr lang="ja-JP" altLang="en-US" sz="1200" dirty="0">
                <a:latin typeface="+mn-ea"/>
              </a:rPr>
              <a:t>。色を増やす場合は、左から順に使うことをお勧めします。</a:t>
            </a:r>
            <a:endParaRPr lang="ja-JP" altLang="ja-JP" sz="1200" dirty="0">
              <a:latin typeface="+mn-ea"/>
            </a:endParaRPr>
          </a:p>
          <a:p>
            <a:pPr marL="0" indent="0">
              <a:buNone/>
            </a:pPr>
            <a:r>
              <a:rPr lang="en-US" altLang="ja-JP" dirty="0">
                <a:latin typeface="+mn-ea"/>
              </a:rPr>
              <a:t> </a:t>
            </a:r>
            <a:endParaRPr lang="ja-JP" altLang="ja-JP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r>
              <a:rPr lang="ja-JP" altLang="ja-JP" b="1" dirty="0">
                <a:latin typeface="+mn-ea"/>
              </a:rPr>
              <a:t>コピーライト</a:t>
            </a:r>
            <a:r>
              <a:rPr lang="ja-JP" altLang="en-US" b="1" dirty="0">
                <a:latin typeface="+mn-ea"/>
              </a:rPr>
              <a:t>および</a:t>
            </a:r>
            <a:r>
              <a:rPr lang="ja-JP" altLang="ja-JP" b="1" dirty="0">
                <a:latin typeface="+mn-ea"/>
              </a:rPr>
              <a:t>コンフィデンシャル表記について</a:t>
            </a:r>
          </a:p>
          <a:p>
            <a:pPr marL="270000" lvl="1" indent="0">
              <a:buNone/>
            </a:pPr>
            <a:endParaRPr lang="en-US" altLang="ja-JP" dirty="0">
              <a:latin typeface="+mn-ea"/>
            </a:endParaRPr>
          </a:p>
          <a:p>
            <a:pPr marL="0" indent="0">
              <a:buNone/>
            </a:pPr>
            <a:r>
              <a:rPr lang="ja-JP" altLang="ja-JP" sz="1200" dirty="0">
                <a:latin typeface="+mn-ea"/>
              </a:rPr>
              <a:t>コンテンツページのマスター</a:t>
            </a:r>
            <a:r>
              <a:rPr lang="ja-JP" altLang="en-US" sz="1200" dirty="0">
                <a:latin typeface="+mn-ea"/>
              </a:rPr>
              <a:t>スライドに設定してあります。</a:t>
            </a:r>
            <a:br>
              <a:rPr lang="en-US" altLang="ja-JP" sz="1200" dirty="0">
                <a:latin typeface="+mn-ea"/>
              </a:rPr>
            </a:br>
            <a:r>
              <a:rPr lang="en-US" altLang="ja-JP" sz="1200" dirty="0">
                <a:latin typeface="+mn-ea"/>
              </a:rPr>
              <a:t>4</a:t>
            </a:r>
            <a:r>
              <a:rPr lang="ja-JP" altLang="ja-JP" sz="1200" dirty="0">
                <a:latin typeface="+mn-ea"/>
              </a:rPr>
              <a:t>種類</a:t>
            </a:r>
            <a:r>
              <a:rPr lang="ja-JP" altLang="en-US" sz="1200" dirty="0">
                <a:latin typeface="+mn-ea"/>
              </a:rPr>
              <a:t>の中から、</a:t>
            </a:r>
            <a:r>
              <a:rPr lang="ja-JP" altLang="ja-JP" sz="1200" dirty="0">
                <a:latin typeface="+mn-ea"/>
              </a:rPr>
              <a:t>資料の機密レベルに合わせて、</a:t>
            </a:r>
            <a:r>
              <a:rPr lang="ja-JP" altLang="en-US" sz="1200" dirty="0">
                <a:latin typeface="+mn-ea"/>
              </a:rPr>
              <a:t>適切なマスタースライドを選んで使ってください</a:t>
            </a:r>
            <a:r>
              <a:rPr lang="ja-JP" altLang="ja-JP" sz="1200" dirty="0">
                <a:latin typeface="+mn-ea"/>
              </a:rPr>
              <a:t>。</a:t>
            </a: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endParaRPr lang="en-US" altLang="ja-JP" sz="1200" dirty="0">
              <a:latin typeface="+mn-ea"/>
            </a:endParaRPr>
          </a:p>
          <a:p>
            <a:pPr marL="0" indent="0">
              <a:buNone/>
            </a:pPr>
            <a:r>
              <a:rPr lang="ja-JP" altLang="ja-JP" sz="1200" dirty="0">
                <a:latin typeface="+mn-ea"/>
              </a:rPr>
              <a:t>レベル</a:t>
            </a:r>
            <a:r>
              <a:rPr lang="ja-JP" altLang="en-US" sz="1200" dirty="0">
                <a:latin typeface="+mn-ea"/>
              </a:rPr>
              <a:t>０</a:t>
            </a:r>
            <a:r>
              <a:rPr lang="ja-JP" altLang="ja-JP" sz="1200" dirty="0">
                <a:latin typeface="+mn-ea"/>
              </a:rPr>
              <a:t>（公開）</a:t>
            </a:r>
            <a:r>
              <a:rPr lang="en-US" altLang="ja-JP" sz="1200" dirty="0">
                <a:latin typeface="+mn-ea"/>
              </a:rPr>
              <a:t>	Copyright SIGMAXYZ Inc. all rights reserved.</a:t>
            </a:r>
          </a:p>
          <a:p>
            <a:pPr marL="0" indent="0">
              <a:buNone/>
            </a:pPr>
            <a:r>
              <a:rPr lang="ja-JP" altLang="ja-JP" sz="1200" dirty="0">
                <a:latin typeface="+mn-ea"/>
              </a:rPr>
              <a:t>レベル</a:t>
            </a:r>
            <a:r>
              <a:rPr lang="ja-JP" altLang="en-US" sz="1200" dirty="0">
                <a:latin typeface="+mn-ea"/>
              </a:rPr>
              <a:t>１</a:t>
            </a:r>
            <a:r>
              <a:rPr lang="ja-JP" altLang="ja-JP" sz="1200" dirty="0">
                <a:latin typeface="+mn-ea"/>
              </a:rPr>
              <a:t>（</a:t>
            </a:r>
            <a:r>
              <a:rPr lang="ja-JP" altLang="en-US" sz="1200" dirty="0">
                <a:latin typeface="+mn-ea"/>
              </a:rPr>
              <a:t>機密</a:t>
            </a:r>
            <a:r>
              <a:rPr lang="ja-JP" altLang="ja-JP" sz="1200" dirty="0">
                <a:latin typeface="+mn-ea"/>
              </a:rPr>
              <a:t>）</a:t>
            </a:r>
            <a:r>
              <a:rPr lang="en-US" altLang="ja-JP" sz="1200" dirty="0">
                <a:latin typeface="+mn-ea"/>
              </a:rPr>
              <a:t>	Copyright SIGMAXYZ Inc. all rights reserved. / Confidential</a:t>
            </a:r>
          </a:p>
          <a:p>
            <a:pPr marL="0" indent="0">
              <a:buNone/>
            </a:pPr>
            <a:r>
              <a:rPr lang="ja-JP" altLang="en-US" sz="1200" dirty="0">
                <a:latin typeface="+mn-ea"/>
              </a:rPr>
              <a:t>　　</a:t>
            </a:r>
            <a:r>
              <a:rPr lang="en-US" altLang="ja-JP" sz="1200" dirty="0">
                <a:latin typeface="+mn-ea"/>
              </a:rPr>
              <a:t>〃</a:t>
            </a:r>
            <a:r>
              <a:rPr lang="ja-JP" altLang="en-US" sz="1200" dirty="0">
                <a:latin typeface="+mn-ea"/>
              </a:rPr>
              <a:t>　　</a:t>
            </a:r>
            <a:r>
              <a:rPr lang="ja-JP" altLang="ja-JP" sz="1200" dirty="0">
                <a:latin typeface="+mn-ea"/>
              </a:rPr>
              <a:t>（</a:t>
            </a:r>
            <a:r>
              <a:rPr lang="ja-JP" altLang="en-US" sz="1200" dirty="0">
                <a:latin typeface="+mn-ea"/>
              </a:rPr>
              <a:t>社外秘</a:t>
            </a:r>
            <a:r>
              <a:rPr lang="ja-JP" altLang="ja-JP" sz="1200" dirty="0">
                <a:latin typeface="+mn-ea"/>
              </a:rPr>
              <a:t>）</a:t>
            </a:r>
            <a:r>
              <a:rPr lang="en-US" altLang="ja-JP" sz="1200" dirty="0">
                <a:latin typeface="+mn-ea"/>
              </a:rPr>
              <a:t>	Copyright SIGMAXYZ Inc. all rights reserved. / Internal Use Only </a:t>
            </a:r>
          </a:p>
          <a:p>
            <a:pPr marL="0" indent="0">
              <a:buNone/>
            </a:pPr>
            <a:r>
              <a:rPr lang="ja-JP" altLang="ja-JP" sz="1200" dirty="0">
                <a:latin typeface="+mn-ea"/>
              </a:rPr>
              <a:t>レベル</a:t>
            </a:r>
            <a:r>
              <a:rPr lang="ja-JP" altLang="en-US" sz="1200" dirty="0">
                <a:latin typeface="+mn-ea"/>
              </a:rPr>
              <a:t>２</a:t>
            </a:r>
            <a:r>
              <a:rPr lang="ja-JP" altLang="ja-JP" sz="1200" dirty="0">
                <a:latin typeface="+mn-ea"/>
              </a:rPr>
              <a:t>（</a:t>
            </a:r>
            <a:r>
              <a:rPr lang="ja-JP" altLang="en-US" sz="1200" dirty="0">
                <a:latin typeface="+mn-ea"/>
              </a:rPr>
              <a:t>厳秘</a:t>
            </a:r>
            <a:r>
              <a:rPr lang="ja-JP" altLang="ja-JP" sz="1200" dirty="0">
                <a:latin typeface="+mn-ea"/>
              </a:rPr>
              <a:t>）</a:t>
            </a:r>
            <a:r>
              <a:rPr lang="en-US" altLang="ja-JP" sz="1200" dirty="0">
                <a:latin typeface="+mn-ea"/>
              </a:rPr>
              <a:t>	Copyright SIGMAXYZ Inc. all rights reserved. / Strictly Confidential</a:t>
            </a:r>
            <a:endParaRPr lang="ja-JP" altLang="ja-JP" sz="1200" dirty="0">
              <a:latin typeface="+mn-ea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楕円 6">
            <a:extLst>
              <a:ext uri="{FF2B5EF4-FFF2-40B4-BE49-F238E27FC236}">
                <a16:creationId xmlns:a16="http://schemas.microsoft.com/office/drawing/2014/main" id="{F82AE60E-9DA3-2346-9035-7840E46FFA4C}"/>
              </a:ext>
            </a:extLst>
          </p:cNvPr>
          <p:cNvSpPr/>
          <p:nvPr/>
        </p:nvSpPr>
        <p:spPr>
          <a:xfrm>
            <a:off x="6395837" y="3284980"/>
            <a:ext cx="504070" cy="504070"/>
          </a:xfrm>
          <a:prstGeom prst="ellipse">
            <a:avLst/>
          </a:prstGeom>
          <a:solidFill>
            <a:schemeClr val="tx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楕円 7">
            <a:extLst>
              <a:ext uri="{FF2B5EF4-FFF2-40B4-BE49-F238E27FC236}">
                <a16:creationId xmlns:a16="http://schemas.microsoft.com/office/drawing/2014/main" id="{C2A00925-9557-4343-97F7-DA3986283EB8}"/>
              </a:ext>
            </a:extLst>
          </p:cNvPr>
          <p:cNvSpPr/>
          <p:nvPr/>
        </p:nvSpPr>
        <p:spPr>
          <a:xfrm>
            <a:off x="7022975" y="3284980"/>
            <a:ext cx="504070" cy="504070"/>
          </a:xfrm>
          <a:prstGeom prst="ellipse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楕円 8">
            <a:extLst>
              <a:ext uri="{FF2B5EF4-FFF2-40B4-BE49-F238E27FC236}">
                <a16:creationId xmlns:a16="http://schemas.microsoft.com/office/drawing/2014/main" id="{E877ADFD-8BAF-7C47-97CC-09D452CC5471}"/>
              </a:ext>
            </a:extLst>
          </p:cNvPr>
          <p:cNvSpPr/>
          <p:nvPr/>
        </p:nvSpPr>
        <p:spPr>
          <a:xfrm>
            <a:off x="8277251" y="3284980"/>
            <a:ext cx="504070" cy="504070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ja-JP" altLang="en-US" sz="1200" dirty="0">
              <a:solidFill>
                <a:schemeClr val="tx2"/>
              </a:solidFill>
            </a:endParaRPr>
          </a:p>
        </p:txBody>
      </p:sp>
      <p:sp>
        <p:nvSpPr>
          <p:cNvPr id="7" name="楕円 14">
            <a:extLst>
              <a:ext uri="{FF2B5EF4-FFF2-40B4-BE49-F238E27FC236}">
                <a16:creationId xmlns:a16="http://schemas.microsoft.com/office/drawing/2014/main" id="{D300A78E-8DA4-1847-91AE-0A51F6508A5D}"/>
              </a:ext>
            </a:extLst>
          </p:cNvPr>
          <p:cNvSpPr/>
          <p:nvPr/>
        </p:nvSpPr>
        <p:spPr>
          <a:xfrm>
            <a:off x="7650113" y="3284980"/>
            <a:ext cx="504070" cy="504070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楕円 15">
            <a:extLst>
              <a:ext uri="{FF2B5EF4-FFF2-40B4-BE49-F238E27FC236}">
                <a16:creationId xmlns:a16="http://schemas.microsoft.com/office/drawing/2014/main" id="{77DD8D5C-24E1-804E-9592-86EC528F86E8}"/>
              </a:ext>
            </a:extLst>
          </p:cNvPr>
          <p:cNvSpPr/>
          <p:nvPr/>
        </p:nvSpPr>
        <p:spPr>
          <a:xfrm>
            <a:off x="8904390" y="3284980"/>
            <a:ext cx="504070" cy="504070"/>
          </a:xfrm>
          <a:prstGeom prst="ellipse">
            <a:avLst/>
          </a:prstGeom>
          <a:solidFill>
            <a:schemeClr val="accent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ja-JP" altLang="en-US" sz="1200" dirty="0">
              <a:solidFill>
                <a:schemeClr val="tx2"/>
              </a:solidFill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3F58CE1F-5768-974F-9A9F-BF876551C7A4}"/>
              </a:ext>
            </a:extLst>
          </p:cNvPr>
          <p:cNvCxnSpPr/>
          <p:nvPr/>
        </p:nvCxnSpPr>
        <p:spPr>
          <a:xfrm>
            <a:off x="6407560" y="3032053"/>
            <a:ext cx="2952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52C149A-D600-CA4D-B652-8436CAEA2C61}"/>
              </a:ext>
            </a:extLst>
          </p:cNvPr>
          <p:cNvSpPr txBox="1"/>
          <p:nvPr/>
        </p:nvSpPr>
        <p:spPr>
          <a:xfrm>
            <a:off x="6453559" y="2769187"/>
            <a:ext cx="945284" cy="36005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ja-JP" altLang="en-US" sz="1200" dirty="0"/>
              <a:t>推奨順</a:t>
            </a:r>
          </a:p>
        </p:txBody>
      </p:sp>
      <p:sp>
        <p:nvSpPr>
          <p:cNvPr id="11" name="楕円 3">
            <a:extLst>
              <a:ext uri="{FF2B5EF4-FFF2-40B4-BE49-F238E27FC236}">
                <a16:creationId xmlns:a16="http://schemas.microsoft.com/office/drawing/2014/main" id="{DB384D7E-38B0-F342-BD51-917ADC561ECE}"/>
              </a:ext>
            </a:extLst>
          </p:cNvPr>
          <p:cNvSpPr/>
          <p:nvPr/>
        </p:nvSpPr>
        <p:spPr>
          <a:xfrm>
            <a:off x="2351480" y="2708900"/>
            <a:ext cx="1080150" cy="108015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White</a:t>
            </a:r>
            <a:endParaRPr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楕円 4">
            <a:extLst>
              <a:ext uri="{FF2B5EF4-FFF2-40B4-BE49-F238E27FC236}">
                <a16:creationId xmlns:a16="http://schemas.microsoft.com/office/drawing/2014/main" id="{8C078B46-28D4-9247-BB89-B196F8097C7E}"/>
              </a:ext>
            </a:extLst>
          </p:cNvPr>
          <p:cNvSpPr/>
          <p:nvPr/>
        </p:nvSpPr>
        <p:spPr>
          <a:xfrm>
            <a:off x="3539645" y="2708900"/>
            <a:ext cx="1080150" cy="108015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</a:rPr>
              <a:t>Black</a:t>
            </a:r>
            <a:endParaRPr lang="ja-JP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楕円 5">
            <a:extLst>
              <a:ext uri="{FF2B5EF4-FFF2-40B4-BE49-F238E27FC236}">
                <a16:creationId xmlns:a16="http://schemas.microsoft.com/office/drawing/2014/main" id="{45CB5FC9-5F71-7E41-B7E2-EDE431B380D4}"/>
              </a:ext>
            </a:extLst>
          </p:cNvPr>
          <p:cNvSpPr/>
          <p:nvPr/>
        </p:nvSpPr>
        <p:spPr>
          <a:xfrm>
            <a:off x="4727810" y="2708900"/>
            <a:ext cx="1080150" cy="108015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Dynamic Orange</a:t>
            </a:r>
            <a:endParaRPr lang="ja-JP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01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85D09-0F61-CD41-A548-785E70A773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シグマクシス　パワーポイントテンプレート　活用ガイド（</a:t>
            </a:r>
            <a:r>
              <a:rPr lang="en-US" altLang="ja-JP" dirty="0"/>
              <a:t>4/4)</a:t>
            </a:r>
            <a:endParaRPr kumimoji="1" lang="ja-JP" altLang="en-US" dirty="0"/>
          </a:p>
        </p:txBody>
      </p:sp>
      <p:sp>
        <p:nvSpPr>
          <p:cNvPr id="15" name="テキスト プレースホルダー 2"/>
          <p:cNvSpPr txBox="1">
            <a:spLocks/>
          </p:cNvSpPr>
          <p:nvPr/>
        </p:nvSpPr>
        <p:spPr>
          <a:xfrm>
            <a:off x="931104" y="1425484"/>
            <a:ext cx="6317056" cy="50403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000" indent="-18000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18000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18000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16000" indent="-180000" algn="l" defTabSz="6858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800" kern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b="1" dirty="0">
                <a:latin typeface="+mn-ea"/>
              </a:rPr>
              <a:t>オブジェクト・パーツ／表・グラフについて</a:t>
            </a:r>
            <a:endParaRPr lang="ja-JP" altLang="ja-JP" b="1" dirty="0">
              <a:latin typeface="+mn-ea"/>
            </a:endParaRPr>
          </a:p>
          <a:p>
            <a:pPr marL="270000" lvl="1" indent="0">
              <a:buFont typeface="Arial" panose="020B0604020202020204" pitchFamily="34" charset="0"/>
              <a:buNone/>
            </a:pPr>
            <a:endParaRPr lang="en-US" altLang="ja-JP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オブジェクトは出来るだけシンプルかつフラットな形に揃え、色もカラーパレットから選択</a:t>
            </a:r>
            <a:br>
              <a:rPr lang="ja-JP" altLang="en-US" sz="1200" dirty="0">
                <a:latin typeface="+mn-ea"/>
              </a:rPr>
            </a:br>
            <a:endParaRPr lang="ja-JP" altLang="en-US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表・グラフ「何を伝えたいグラフか」を明記し、カラーを使い分け、フラットでシンプルなつくりを</a:t>
            </a:r>
            <a:br>
              <a:rPr lang="ja-JP" altLang="en-US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心がける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12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ja-JP" altLang="en-US" sz="1200" dirty="0">
                <a:latin typeface="+mn-ea"/>
              </a:rPr>
              <a:t>キーメッセージを決めて、カラーや太さをコントロールする</a:t>
            </a:r>
            <a:br>
              <a:rPr lang="ja-JP" altLang="en-US" sz="1200" dirty="0">
                <a:latin typeface="+mn-ea"/>
              </a:rPr>
            </a:br>
            <a:br>
              <a:rPr lang="ja-JP" altLang="en-US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強調したい部分に強調色である「</a:t>
            </a:r>
            <a:r>
              <a:rPr lang="en-US" altLang="ja-JP" sz="1200" dirty="0">
                <a:latin typeface="+mn-ea"/>
              </a:rPr>
              <a:t>Dynamic Orange</a:t>
            </a:r>
            <a:r>
              <a:rPr lang="ja-JP" altLang="en-US" sz="1200" dirty="0">
                <a:latin typeface="+mn-ea"/>
              </a:rPr>
              <a:t>」を指し、そのほかの要素に意味を持たせて差別化したい時には、グレースケールを順番に使用する </a:t>
            </a:r>
          </a:p>
          <a:p>
            <a:pPr marL="228600" indent="-228600">
              <a:buFont typeface="+mj-lt"/>
              <a:buAutoNum type="arabicPeriod"/>
            </a:pPr>
            <a:endParaRPr lang="ja-JP" altLang="en-US" sz="12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ja-JP" altLang="en-US" sz="1200" dirty="0">
                <a:latin typeface="+mn-ea"/>
              </a:rPr>
              <a:t>別の情報ソースから</a:t>
            </a:r>
            <a:r>
              <a:rPr lang="ja-JP" altLang="en-US" sz="1200" b="1" dirty="0">
                <a:solidFill>
                  <a:schemeClr val="bg2"/>
                </a:solidFill>
                <a:latin typeface="+mn-ea"/>
              </a:rPr>
              <a:t>引用を行う場合は、必ず出所を明示すること</a:t>
            </a:r>
            <a:br>
              <a:rPr lang="en-US" altLang="ja-JP" sz="1200" dirty="0">
                <a:latin typeface="+mn-ea"/>
              </a:rPr>
            </a:br>
            <a:br>
              <a:rPr lang="en-US" altLang="ja-JP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表やグラフ、テキスト、写真などの著作物を、別の情報ソースからそのまま</a:t>
            </a:r>
            <a:br>
              <a:rPr lang="en-US" altLang="ja-JP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引用した場合の記載例</a:t>
            </a:r>
            <a:br>
              <a:rPr lang="ja-JP" altLang="en-US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「出所：（引用元の書籍、頁数、著者名あるいは資料名、資料年度</a:t>
            </a:r>
            <a:br>
              <a:rPr lang="en-US" altLang="ja-JP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　　　　　</a:t>
            </a:r>
            <a:r>
              <a:rPr lang="en-US" altLang="ja-JP" sz="1200" dirty="0">
                <a:latin typeface="+mn-ea"/>
              </a:rPr>
              <a:t>WEB</a:t>
            </a:r>
            <a:r>
              <a:rPr lang="ja-JP" altLang="en-US" sz="1200" dirty="0">
                <a:latin typeface="+mn-ea"/>
              </a:rPr>
              <a:t>サイトの場合はサイト名、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、運営者を明記）」</a:t>
            </a:r>
            <a:br>
              <a:rPr lang="en-US" altLang="ja-JP" sz="1200" b="1" dirty="0">
                <a:latin typeface="+mn-ea"/>
              </a:rPr>
            </a:br>
            <a:br>
              <a:rPr lang="en-US" altLang="ja-JP" sz="1200" dirty="0">
                <a:latin typeface="+mn-ea"/>
              </a:rPr>
            </a:br>
            <a:r>
              <a:rPr lang="en-US" altLang="ja-JP" sz="1200" dirty="0">
                <a:latin typeface="+mn-ea"/>
              </a:rPr>
              <a:t>※</a:t>
            </a:r>
            <a:r>
              <a:rPr lang="ja-JP" altLang="en-US" sz="1200" dirty="0">
                <a:latin typeface="+mn-ea"/>
              </a:rPr>
              <a:t>資料作成における引用ルールの詳細については以下のページを参照ください</a:t>
            </a:r>
            <a:br>
              <a:rPr lang="en-US" altLang="ja-JP" sz="1200" dirty="0">
                <a:latin typeface="+mn-ea"/>
              </a:rPr>
            </a:br>
            <a:r>
              <a:rPr lang="ja-JP" altLang="en-US" sz="1000" dirty="0">
                <a:latin typeface="+mn-ea"/>
              </a:rPr>
              <a:t>プロジェクト情報の取り扱い ： </a:t>
            </a:r>
            <a:r>
              <a:rPr lang="en-US" altLang="ja-JP" sz="900" dirty="0">
                <a:latin typeface="+mn-ea"/>
                <a:hlinkClick r:id="rId2"/>
              </a:rPr>
              <a:t>https://cms51.sigmaxyz.com/rules-and-guide/information-security/information-security-10/</a:t>
            </a:r>
            <a:endParaRPr lang="en-US" altLang="ja-JP" sz="12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1200" dirty="0">
              <a:latin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20D8DB-B21F-E7D7-E54F-471FBC999B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b="8314"/>
          <a:stretch/>
        </p:blipFill>
        <p:spPr bwMode="auto">
          <a:xfrm>
            <a:off x="8568773" y="3645030"/>
            <a:ext cx="2770403" cy="2242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797C85-2F06-0DDF-89E8-623B51A78C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b="5703"/>
          <a:stretch/>
        </p:blipFill>
        <p:spPr bwMode="auto">
          <a:xfrm>
            <a:off x="8551582" y="1196690"/>
            <a:ext cx="2736850" cy="2088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07F157-D9A1-9F27-58F4-E6D97AFA182B}"/>
              </a:ext>
            </a:extLst>
          </p:cNvPr>
          <p:cNvSpPr txBox="1"/>
          <p:nvPr/>
        </p:nvSpPr>
        <p:spPr>
          <a:xfrm>
            <a:off x="8544340" y="5894797"/>
            <a:ext cx="3312460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ja-JP" altLang="en-US" sz="700" dirty="0"/>
              <a:t>出所：「Pulp and paper towards 2010, an executive summary 1994」</a:t>
            </a:r>
            <a:endParaRPr lang="en-US" altLang="ja-JP" sz="700" dirty="0"/>
          </a:p>
          <a:p>
            <a:r>
              <a:rPr lang="ja-JP" altLang="en-US" sz="700" dirty="0"/>
              <a:t>　　　　</a:t>
            </a:r>
            <a:r>
              <a:rPr lang="en-US" altLang="ja-JP" sz="700" dirty="0"/>
              <a:t>URL</a:t>
            </a:r>
            <a:r>
              <a:rPr lang="ja-JP" altLang="en-US" sz="700" dirty="0"/>
              <a:t>：</a:t>
            </a:r>
            <a:r>
              <a:rPr lang="en-US" altLang="ja-JP" sz="700" dirty="0">
                <a:hlinkClick r:id="rId5"/>
              </a:rPr>
              <a:t>https://www.fao.org/faostat/</a:t>
            </a:r>
            <a:endParaRPr lang="en-US" altLang="ja-JP" sz="700" dirty="0"/>
          </a:p>
          <a:p>
            <a:r>
              <a:rPr lang="ja-JP" altLang="en-US" sz="700" dirty="0"/>
              <a:t>　　　　</a:t>
            </a:r>
            <a:r>
              <a:rPr lang="en-US" altLang="ja-JP" sz="700" dirty="0"/>
              <a:t>Food and Agriculture Organization</a:t>
            </a:r>
            <a:endParaRPr lang="ja-JP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9225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2071472"/>
            <a:ext cx="10369550" cy="42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61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88085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080B1F-96F0-F842-A056-DBCEF58B7F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78451F-8CE6-E14D-86C5-90B9813057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359" y="404813"/>
            <a:ext cx="4895537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2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29696-9DA7-DD4B-BCA2-5C3B44705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A17718-E197-DF42-99AB-0D9CC1F1B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6657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7DFE66-A75D-6243-A102-FA4A8F2869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6B2E378-08D8-2045-A3D2-DC74AD8D42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30" y="2195008"/>
            <a:ext cx="10395255" cy="425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9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1225" y="1916114"/>
            <a:ext cx="10369550" cy="720725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10369550" cy="574675"/>
          </a:xfrm>
        </p:spPr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86354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サブタイトル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886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D14257A8-B5CC-C848-B2E3-417C1A7F667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255758E-FDED-884E-9CDC-B64D8F72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840357F-7363-4B4C-8E0D-2C49A002F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5299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サブタイトル 1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072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5F4CE334-0D54-6549-AE41-5242029ADD9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9FEFFE0-A8E1-9644-8073-0C1170FF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42D931-445B-7049-8E84-1F76541B86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852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DC5050-01EB-CA4A-B399-D92CCB854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FB20154-DD19-8747-BD14-5D21EF49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017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5BE88-D159-0E4C-B66F-2EDE8636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6F9AE0-4AC4-0A4A-A35D-BFFDF336FF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2349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70894D-BBF7-3C4B-B972-D58FCE05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250258-CB64-A842-B0B5-615FB5AC54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95503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B13166-A692-1C40-8348-B267C29C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ADB322-BB78-D949-A68A-683E270449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8617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3E21A-8268-534C-BC71-4594C6AA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2AD7D6-FE60-D54D-B760-996A7E3DE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765175"/>
            <a:ext cx="10381349" cy="42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61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1225" y="3068950"/>
            <a:ext cx="10369550" cy="720100"/>
          </a:xfrm>
        </p:spPr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3765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0345A22-6C49-7247-9703-666B29B87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55" y="765174"/>
            <a:ext cx="10355320" cy="423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97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282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15664</TotalTime>
  <Words>841</Words>
  <Application>Microsoft Office PowerPoint</Application>
  <PresentationFormat>ワイド画面</PresentationFormat>
  <Paragraphs>84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9" baseType="lpstr">
      <vt:lpstr>ＭＳ Ｐゴシック</vt:lpstr>
      <vt:lpstr>游ゴシック</vt:lpstr>
      <vt:lpstr>游ゴシック Medium</vt:lpstr>
      <vt:lpstr>Arial</vt:lpstr>
      <vt:lpstr>Calibri</vt:lpstr>
      <vt:lpstr>Cambria</vt:lpstr>
      <vt:lpstr>Office テーマ</vt:lpstr>
      <vt:lpstr>シグマクシス　パワーポイントテンプレート　活用ガイド（1/4) </vt:lpstr>
      <vt:lpstr>シグマクシス　パワーポイントテンプレート　活用ガイド（2/4)</vt:lpstr>
      <vt:lpstr>シグマクシス　パワーポイントテンプレート　活用ガイド（3/4)</vt:lpstr>
      <vt:lpstr>シグマクシス　パワーポイントテンプレート　活用ガイド（4/4)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Satoko Otomo</cp:lastModifiedBy>
  <cp:revision>405</cp:revision>
  <cp:lastPrinted>2018-06-13T22:31:49Z</cp:lastPrinted>
  <dcterms:created xsi:type="dcterms:W3CDTF">2009-06-15T08:28:54Z</dcterms:created>
  <dcterms:modified xsi:type="dcterms:W3CDTF">2023-07-07T09:11:36Z</dcterms:modified>
</cp:coreProperties>
</file>